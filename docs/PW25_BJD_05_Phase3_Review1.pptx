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jb24/3oXfEol3mrTMEca2WFcYD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86" d="100"/>
          <a:sy n="86" d="100"/>
        </p:scale>
        <p:origin x="-264" y="-90"/>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5" Type="http://customschemas.google.com/relationships/presentationmetadata" Target="meta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chemeClr val="dk1"/>
                </a:buClr>
                <a:buSzPts val="1200"/>
                <a:buFont typeface="Calibri"/>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785cdd001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g3785cdd001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g3785cdd0013_0_0:notes"/>
          <p:cNvSpPr txBox="1">
            <a:spLocks noGrp="1"/>
          </p:cNvSpPr>
          <p:nvPr>
            <p:ph type="hdr" idx="3"/>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Title of the Project</a:t>
            </a:r>
            <a:endParaRPr/>
          </a:p>
        </p:txBody>
      </p:sp>
      <p:sp>
        <p:nvSpPr>
          <p:cNvPr id="105" name="Google Shape;105;g3785cdd0013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785cdd0013_0_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 name="Google Shape;112;g3785cdd0013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g3785cdd0013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785cdd0013_0_1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g3785cdd0013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g3785cdd0013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785cdd0013_0_2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g3785cdd0013_0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 name="Google Shape;133;g3785cdd0013_0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pPr marL="0" lvl="0" indent="0" algn="r" rtl="0">
                <a:lnSpc>
                  <a:spcPct val="100000"/>
                </a:lnSpc>
                <a:spcBef>
                  <a:spcPts val="0"/>
                </a:spcBef>
                <a:spcAft>
                  <a:spcPts val="0"/>
                </a:spcAft>
                <a:buSzPts val="1400"/>
                <a:buNone/>
              </a:p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785cdd0013_0_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g3785cdd0013_0_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785cdd0013_0_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3785cdd0013_0_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85cdd0013_0_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g3785cdd0013_0_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785cdd0013_0_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3785cdd0013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785cdd0013_0_7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g3785cdd0013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785cdd0013_0_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3785cdd0013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8"/>
        <p:cNvGrpSpPr/>
        <p:nvPr/>
      </p:nvGrpSpPr>
      <p:grpSpPr>
        <a:xfrm>
          <a:off x="0" y="0"/>
          <a:ext cx="0" cy="0"/>
          <a:chOff x="0" y="0"/>
          <a:chExt cx="0" cy="0"/>
        </a:xfrm>
      </p:grpSpPr>
      <p:sp>
        <p:nvSpPr>
          <p:cNvPr id="19" name="Google Shape;19;p1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1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1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4"/>
        <p:cNvGrpSpPr/>
        <p:nvPr/>
      </p:nvGrpSpPr>
      <p:grpSpPr>
        <a:xfrm>
          <a:off x="0" y="0"/>
          <a:ext cx="0" cy="0"/>
          <a:chOff x="0" y="0"/>
          <a:chExt cx="0" cy="0"/>
        </a:xfrm>
      </p:grpSpPr>
      <p:sp>
        <p:nvSpPr>
          <p:cNvPr id="25" name="Google Shape;25;p1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1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15"/>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5"/>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9" name="Google Shape;29;p1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32" name="Google Shape;32;p15"/>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6" name="Google Shape;36;p1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39"/>
        <p:cNvGrpSpPr/>
        <p:nvPr/>
      </p:nvGrpSpPr>
      <p:grpSpPr>
        <a:xfrm>
          <a:off x="0" y="0"/>
          <a:ext cx="0" cy="0"/>
          <a:chOff x="0" y="0"/>
          <a:chExt cx="0" cy="0"/>
        </a:xfrm>
      </p:grpSpPr>
      <p:sp>
        <p:nvSpPr>
          <p:cNvPr id="40" name="Google Shape;40;p17"/>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17"/>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17"/>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7"/>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4" name="Google Shape;44;p1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47" name="Google Shape;47;p17"/>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1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8"/>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18"/>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2" name="Google Shape;52;p1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9"/>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8" name="Google Shape;58;p19"/>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9" name="Google Shape;59;p19"/>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60" name="Google Shape;60;p19"/>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1" name="Google Shape;61;p1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2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9"/>
        <p:cNvGrpSpPr/>
        <p:nvPr/>
      </p:nvGrpSpPr>
      <p:grpSpPr>
        <a:xfrm>
          <a:off x="0" y="0"/>
          <a:ext cx="0" cy="0"/>
          <a:chOff x="0" y="0"/>
          <a:chExt cx="0" cy="0"/>
        </a:xfrm>
      </p:grpSpPr>
      <p:sp>
        <p:nvSpPr>
          <p:cNvPr id="70" name="Google Shape;70;p21"/>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21"/>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21"/>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1"/>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4" name="Google Shape;74;p21"/>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5" name="Google Shape;75;p21"/>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1pPr>
            <a:lvl2pPr marL="0" marR="0" lvl="1"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2pPr>
            <a:lvl3pPr marL="0" marR="0" lvl="2"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3pPr>
            <a:lvl4pPr marL="0" marR="0" lvl="3"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4pPr>
            <a:lvl5pPr marL="0" marR="0" lvl="4"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5pPr>
            <a:lvl6pPr marL="0" marR="0" lvl="5"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6pPr>
            <a:lvl7pPr marL="0" marR="0" lvl="6"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7pPr>
            <a:lvl8pPr marL="0" marR="0" lvl="7"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8pPr>
            <a:lvl9pPr marL="0" marR="0" lvl="8" indent="0" algn="r">
              <a:lnSpc>
                <a:spcPct val="100000"/>
              </a:lnSpc>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22"/>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22"/>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22"/>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2"/>
          <p:cNvSpPr>
            <a:spLocks noGrp="1"/>
          </p:cNvSpPr>
          <p:nvPr>
            <p:ph type="pic" idx="2"/>
          </p:nvPr>
        </p:nvSpPr>
        <p:spPr>
          <a:xfrm>
            <a:off x="15" y="0"/>
            <a:ext cx="12191985" cy="4915076"/>
          </a:xfrm>
          <a:prstGeom prst="rect">
            <a:avLst/>
          </a:prstGeom>
          <a:noFill/>
          <a:ln>
            <a:noFill/>
          </a:ln>
        </p:spPr>
      </p:sp>
      <p:sp>
        <p:nvSpPr>
          <p:cNvPr id="83" name="Google Shape;83;p22"/>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4" name="Google Shape;84;p2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2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3"/>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0" name="Google Shape;90;p2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2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2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24"/>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4"/>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8" name="Google Shape;98;p2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2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FFFFFF"/>
              </a:buClr>
              <a:buSzPts val="100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13"/>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1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1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cxnSp>
        <p:nvCxnSpPr>
          <p:cNvPr id="17" name="Google Shape;17;p13"/>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3785cdd0013_0_0"/>
          <p:cNvSpPr/>
          <p:nvPr/>
        </p:nvSpPr>
        <p:spPr>
          <a:xfrm>
            <a:off x="2387991" y="990600"/>
            <a:ext cx="7924800" cy="1385100"/>
          </a:xfrm>
          <a:prstGeom prst="rect">
            <a:avLst/>
          </a:prstGeom>
          <a:noFill/>
          <a:ln>
            <a:noFill/>
          </a:ln>
        </p:spPr>
        <p:txBody>
          <a:bodyPr spcFirstLastPara="1" wrap="square" lIns="91425" tIns="45700" rIns="91425" bIns="45700" anchor="t" anchorCtr="0">
            <a:noAutofit/>
          </a:bodyPr>
          <a:lstStyle/>
          <a:p>
            <a:pPr lvl="0" algn="ctr">
              <a:buSzPts val="2800"/>
            </a:pPr>
            <a:r>
              <a:rPr lang="en-US" sz="2800" dirty="0" smtClean="0">
                <a:solidFill>
                  <a:schemeClr val="dk1"/>
                </a:solidFill>
                <a:latin typeface="Trebuchet MS"/>
                <a:ea typeface="Trebuchet MS"/>
                <a:cs typeface="Trebuchet MS"/>
                <a:sym typeface="Trebuchet MS"/>
              </a:rPr>
              <a:t>UE23AM441A  </a:t>
            </a:r>
            <a:r>
              <a:rPr lang="en-US" sz="2800" b="0" i="0" u="none" strike="noStrike" cap="none" dirty="0" smtClean="0">
                <a:solidFill>
                  <a:schemeClr val="dk1"/>
                </a:solidFill>
                <a:latin typeface="Trebuchet MS"/>
                <a:ea typeface="Trebuchet MS"/>
                <a:cs typeface="Trebuchet MS"/>
                <a:sym typeface="Trebuchet MS"/>
              </a:rPr>
              <a:t>– </a:t>
            </a:r>
            <a:r>
              <a:rPr lang="en-US" sz="2800" b="0" i="0" u="none" strike="noStrike" cap="none" dirty="0">
                <a:solidFill>
                  <a:schemeClr val="dk1"/>
                </a:solidFill>
                <a:latin typeface="Trebuchet MS"/>
                <a:ea typeface="Trebuchet MS"/>
                <a:cs typeface="Trebuchet MS"/>
                <a:sym typeface="Trebuchet MS"/>
              </a:rPr>
              <a:t>Capstone Project Phase – </a:t>
            </a:r>
            <a:r>
              <a:rPr lang="en-US" sz="2800" dirty="0">
                <a:solidFill>
                  <a:schemeClr val="dk1"/>
                </a:solidFill>
                <a:latin typeface="Trebuchet MS"/>
                <a:ea typeface="Trebuchet MS"/>
                <a:cs typeface="Trebuchet MS"/>
                <a:sym typeface="Trebuchet MS"/>
              </a:rPr>
              <a:t>3</a:t>
            </a:r>
            <a:endParaRPr sz="2800" b="0" i="0" u="none" strike="noStrike" cap="none" dirty="0">
              <a:solidFill>
                <a:schemeClr val="dk1"/>
              </a:solidFill>
              <a:latin typeface="Trebuchet MS"/>
              <a:ea typeface="Trebuchet MS"/>
              <a:cs typeface="Trebuchet MS"/>
              <a:sym typeface="Trebuchet MS"/>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Trebuchet MS"/>
                <a:ea typeface="Trebuchet MS"/>
                <a:cs typeface="Trebuchet MS"/>
                <a:sym typeface="Trebuchet MS"/>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accent2"/>
                </a:solidFill>
                <a:latin typeface="Trebuchet MS"/>
                <a:ea typeface="Trebuchet MS"/>
                <a:cs typeface="Trebuchet MS"/>
                <a:sym typeface="Trebuchet MS"/>
              </a:rPr>
              <a:t>Project Progress </a:t>
            </a:r>
            <a:r>
              <a:rPr lang="en-US" sz="2800" b="0" i="0" u="none" strike="noStrike" cap="none" dirty="0" smtClean="0">
                <a:solidFill>
                  <a:schemeClr val="accent2"/>
                </a:solidFill>
                <a:latin typeface="Trebuchet MS"/>
                <a:ea typeface="Trebuchet MS"/>
                <a:cs typeface="Trebuchet MS"/>
                <a:sym typeface="Trebuchet MS"/>
              </a:rPr>
              <a:t>Review </a:t>
            </a:r>
            <a:r>
              <a:rPr lang="en-US" sz="2800" b="0" i="0" u="none" strike="noStrike" cap="none" dirty="0">
                <a:solidFill>
                  <a:schemeClr val="accent2"/>
                </a:solidFill>
                <a:latin typeface="Trebuchet MS"/>
                <a:ea typeface="Trebuchet MS"/>
                <a:cs typeface="Trebuchet MS"/>
                <a:sym typeface="Trebuchet MS"/>
              </a:rPr>
              <a:t># 1</a:t>
            </a:r>
            <a:endParaRPr sz="2800" b="0" i="0" u="none" strike="noStrike" cap="none" dirty="0">
              <a:solidFill>
                <a:schemeClr val="accent2"/>
              </a:solidFill>
              <a:latin typeface="Trebuchet MS"/>
              <a:ea typeface="Trebuchet MS"/>
              <a:cs typeface="Trebuchet MS"/>
              <a:sym typeface="Trebuchet MS"/>
            </a:endParaRPr>
          </a:p>
        </p:txBody>
      </p:sp>
      <p:sp>
        <p:nvSpPr>
          <p:cNvPr id="108" name="Google Shape;108;g3785cdd0013_0_0"/>
          <p:cNvSpPr txBox="1"/>
          <p:nvPr/>
        </p:nvSpPr>
        <p:spPr>
          <a:xfrm>
            <a:off x="1828800" y="4419601"/>
            <a:ext cx="8458200" cy="13719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sz="1500"/>
              <a:t>Project Title   :  Whose Indian Accent? A Significance-Tested Subgroup Audit of Indian and Frontier ASR Systems</a:t>
            </a:r>
            <a:endParaRPr sz="2400" b="0" i="0" u="none" strike="noStrike" cap="none">
              <a:solidFill>
                <a:schemeClr val="accent1"/>
              </a:solidFill>
              <a:latin typeface="Trebuchet MS"/>
              <a:ea typeface="Trebuchet MS"/>
              <a:cs typeface="Trebuchet MS"/>
              <a:sym typeface="Trebuchet MS"/>
            </a:endParaRPr>
          </a:p>
          <a:p>
            <a:r>
              <a:rPr sz="1500"/>
              <a:t>Project ID       :  PW25_BJD_05</a:t>
            </a:r>
          </a:p>
          <a:p>
            <a:r>
              <a:rPr sz="1500"/>
              <a:t>Project Guide :  Dr. Bhaskarjyoti Das</a:t>
            </a:r>
          </a:p>
          <a:p>
            <a:r>
              <a:rPr sz="1500"/>
              <a:t>Project Team  :  Aditya Sharma, Adithya V Holla, C Kaustubh, Aditi Mangala Udaya</a:t>
            </a:r>
          </a:p>
        </p:txBody>
      </p:sp>
      <p:pic>
        <p:nvPicPr>
          <p:cNvPr id="109" name="Google Shape;109;g3785cdd0013_0_0"/>
          <p:cNvPicPr preferRelativeResize="0"/>
          <p:nvPr/>
        </p:nvPicPr>
        <p:blipFill rotWithShape="1">
          <a:blip r:embed="rId3">
            <a:alphaModFix/>
          </a:blip>
          <a:srcRect/>
          <a:stretch/>
        </p:blipFill>
        <p:spPr>
          <a:xfrm>
            <a:off x="10896601" y="0"/>
            <a:ext cx="1295399" cy="1025106"/>
          </a:xfrm>
          <a:prstGeom prst="rect">
            <a:avLst/>
          </a:prstGeom>
          <a:noFill/>
          <a:ln>
            <a:noFill/>
          </a:ln>
        </p:spPr>
      </p:pic>
      <p:pic>
        <p:nvPicPr>
          <p:cNvPr id="5" name="Picture 4"/>
          <p:cNvPicPr/>
          <p:nvPr/>
        </p:nvPicPr>
        <p:blipFill>
          <a:blip r:embed="rId4"/>
          <a:srcRect/>
          <a:stretch>
            <a:fillRect/>
          </a:stretch>
        </p:blipFill>
        <p:spPr bwMode="auto">
          <a:xfrm>
            <a:off x="195549" y="160691"/>
            <a:ext cx="762000" cy="7858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g3785cdd0013_0_8"/>
          <p:cNvSpPr txBox="1"/>
          <p:nvPr/>
        </p:nvSpPr>
        <p:spPr>
          <a:xfrm>
            <a:off x="1828800" y="1161650"/>
            <a:ext cx="8534400" cy="4967400"/>
          </a:xfrm>
          <a:prstGeom prst="rect">
            <a:avLst/>
          </a:prstGeom>
          <a:noFill/>
          <a:ln>
            <a:noFill/>
          </a:ln>
        </p:spPr>
        <p:txBody>
          <a:bodyPr spcFirstLastPara="1" wrap="square" lIns="91425" tIns="45700" rIns="91425" bIns="45700" anchor="t" anchorCtr="0">
            <a:noAutofit/>
          </a:bodyPr>
          <a:lstStyle/>
          <a:p>
            <a:pPr marL="685791" marR="0" indent="-215900" algn="just" rtl="0">
              <a:lnSpc>
                <a:spcPct val="100000"/>
              </a:lnSpc>
              <a:spcBef>
                <a:spcPts val="0"/>
              </a:spcBef>
              <a:spcAft>
                <a:spcPts val="0"/>
              </a:spcAft>
              <a:buClr>
                <a:schemeClr val="dk1"/>
              </a:buClr>
              <a:buSzPts val="2000"/>
              <a:buFont typeface="Arial"/>
              <a:buNone/>
            </a:pPr>
            <a:r>
              <a:rPr sz="1500" b="0"/>
              <a:t>•  Abstract and Scope of the Project</a:t>
            </a:r>
            <a:endParaRPr sz="2000" b="0" i="0" u="none" strike="noStrike" cap="none">
              <a:solidFill>
                <a:schemeClr val="accent1"/>
              </a:solidFill>
              <a:latin typeface="Trebuchet MS"/>
              <a:ea typeface="Trebuchet MS"/>
              <a:cs typeface="Trebuchet MS"/>
              <a:sym typeface="Trebuchet MS"/>
            </a:endParaRPr>
          </a:p>
          <a:p>
            <a:pPr>
              <a:buNone/>
            </a:pPr>
          </a:p>
          <a:p>
            <a:pPr>
              <a:buNone/>
            </a:pPr>
            <a:r>
              <a:rPr sz="1500" b="0"/>
              <a:t>•  Recap: Capstone Project Phase – 2</a:t>
            </a:r>
          </a:p>
          <a:p>
            <a:pPr>
              <a:buNone/>
            </a:pPr>
            <a:r>
              <a:rPr sz="1400" b="0"/>
              <a:t>     –  The evaluation pipeline (ΔDP, ΔEO, Poisson significance)</a:t>
            </a:r>
          </a:p>
          <a:p>
            <a:pPr>
              <a:buNone/>
            </a:pPr>
            <a:r>
              <a:rPr sz="1400" b="0"/>
              <a:t>     –  GRL failed; GRPO/FR-CISPO on whisper-tiny — no publication-valid win yet</a:t>
            </a:r>
          </a:p>
          <a:p>
            <a:pPr>
              <a:buNone/>
            </a:pPr>
            <a:r>
              <a:rPr sz="1400" b="0"/>
              <a:t>     –  August: the pivot trigger — Sarvam Saaras V3 encroaches our thesis</a:t>
            </a:r>
          </a:p>
          <a:p>
            <a:pPr>
              <a:buNone/>
            </a:pPr>
          </a:p>
          <a:p>
            <a:pPr>
              <a:buNone/>
            </a:pPr>
            <a:r>
              <a:rPr sz="1500" b="0"/>
              <a:t>•  List of Tasks/Modules with Individual Contribution</a:t>
            </a:r>
          </a:p>
          <a:p>
            <a:pPr>
              <a:buNone/>
            </a:pPr>
          </a:p>
          <a:p>
            <a:pPr>
              <a:buNone/>
            </a:pPr>
            <a:r>
              <a:rPr sz="1500" b="0"/>
              <a:t>•  Design of overall Architecture</a:t>
            </a:r>
          </a:p>
          <a:p>
            <a:pPr>
              <a:buNone/>
            </a:pPr>
          </a:p>
          <a:p>
            <a:pPr>
              <a:buNone/>
            </a:pPr>
            <a:r>
              <a:rPr sz="1500" b="0"/>
              <a:t>•  Demonstration: the six-system Svarah fairness audit</a:t>
            </a:r>
          </a:p>
          <a:p>
            <a:pPr>
              <a:buNone/>
            </a:pPr>
          </a:p>
          <a:p>
            <a:pPr>
              <a:buNone/>
            </a:pPr>
            <a:r>
              <a:rPr sz="1500" b="0"/>
              <a:t>•  References</a:t>
            </a:r>
          </a:p>
        </p:txBody>
      </p:sp>
      <p:sp>
        <p:nvSpPr>
          <p:cNvPr id="116" name="Google Shape;116;g3785cdd0013_0_8"/>
          <p:cNvSpPr txBox="1"/>
          <p:nvPr/>
        </p:nvSpPr>
        <p:spPr>
          <a:xfrm>
            <a:off x="4191000" y="699952"/>
            <a:ext cx="6477000" cy="461700"/>
          </a:xfrm>
          <a:prstGeom prst="rect">
            <a:avLst/>
          </a:prstGeom>
          <a:noFill/>
          <a:ln>
            <a:noFill/>
          </a:ln>
        </p:spPr>
        <p:txBody>
          <a:bodyPr spcFirstLastPara="1" wrap="square" lIns="91425" tIns="45700" rIns="91425" bIns="45700" anchor="t" anchorCtr="0">
            <a:spAutoFit/>
          </a:bodyPr>
          <a:lstStyle/>
          <a:p>
            <a:pPr marL="342891" marR="0" lvl="0" indent="-342891"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rebuchet MS"/>
                <a:ea typeface="Trebuchet MS"/>
                <a:cs typeface="Trebuchet MS"/>
                <a:sym typeface="Trebuchet MS"/>
              </a:rPr>
              <a:t>Outline</a:t>
            </a:r>
            <a:endParaRPr sz="2400" b="0" i="0" u="none" strike="noStrike" cap="none">
              <a:solidFill>
                <a:schemeClr val="dk1"/>
              </a:solidFill>
              <a:latin typeface="Trebuchet MS"/>
              <a:ea typeface="Trebuchet MS"/>
              <a:cs typeface="Trebuchet MS"/>
              <a:sym typeface="Trebuchet MS"/>
            </a:endParaRPr>
          </a:p>
        </p:txBody>
      </p:sp>
      <p:pic>
        <p:nvPicPr>
          <p:cNvPr id="117" name="Google Shape;117;g3785cdd0013_0_8"/>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18" name="Google Shape;118;g3785cdd0013_0_8"/>
          <p:cNvSpPr txBox="1"/>
          <p:nvPr/>
        </p:nvSpPr>
        <p:spPr>
          <a:xfrm>
            <a:off x="76201" y="63110"/>
            <a:ext cx="41148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888888"/>
                </a:solidFill>
                <a:latin typeface="Arial"/>
                <a:ea typeface="Arial"/>
                <a:cs typeface="Arial"/>
                <a:sym typeface="Arial"/>
              </a:rPr>
              <a:t>ASR Fairness Audit</a:t>
            </a:r>
            <a:endParaRPr sz="1200" b="0" i="0" u="none" strike="noStrike" cap="none">
              <a:solidFill>
                <a:srgbClr val="888888"/>
              </a:solidFill>
              <a:latin typeface="Arial"/>
              <a:ea typeface="Arial"/>
              <a:cs typeface="Arial"/>
              <a:sym typeface="Arial"/>
            </a:endParaRPr>
          </a:p>
        </p:txBody>
      </p:sp>
      <p:sp>
        <p:nvSpPr>
          <p:cNvPr id="119" name="Google Shape;119;g3785cdd0013_0_8"/>
          <p:cNvSpPr txBox="1">
            <a:spLocks noGrp="1"/>
          </p:cNvSpPr>
          <p:nvPr>
            <p:ph type="ftr" idx="11"/>
          </p:nvPr>
        </p:nvSpPr>
        <p:spPr>
          <a:xfrm>
            <a:off x="3686185" y="6459785"/>
            <a:ext cx="4822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Aditya_Adithya_Kaustubh_Aditi</a:t>
            </a:r>
            <a:endParaRPr/>
          </a:p>
        </p:txBody>
      </p:sp>
      <p:pic>
        <p:nvPicPr>
          <p:cNvPr id="7" name="Picture 6"/>
          <p:cNvPicPr/>
          <p:nvPr/>
        </p:nvPicPr>
        <p:blipFill>
          <a:blip r:embed="rId4"/>
          <a:srcRect/>
          <a:stretch>
            <a:fillRect/>
          </a:stretch>
        </p:blipFill>
        <p:spPr bwMode="auto">
          <a:xfrm>
            <a:off x="195549" y="160691"/>
            <a:ext cx="762000" cy="7858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3785cdd0013_0_18"/>
          <p:cNvSpPr txBox="1"/>
          <p:nvPr/>
        </p:nvSpPr>
        <p:spPr>
          <a:xfrm>
            <a:off x="2057400" y="2209800"/>
            <a:ext cx="8077200" cy="4191000"/>
          </a:xfrm>
          <a:prstGeom prst="rect">
            <a:avLst/>
          </a:prstGeom>
          <a:noFill/>
          <a:ln>
            <a:noFill/>
          </a:ln>
        </p:spPr>
        <p:txBody>
          <a:bodyPr spcFirstLastPara="1" wrap="square" lIns="91425" tIns="45700" rIns="91425" bIns="45700" anchor="t" anchorCtr="0">
            <a:noAutofit/>
          </a:bodyPr>
          <a:lstStyle/>
          <a:p>
            <a:pPr marL="685791" marR="0" lvl="0" indent="-342900" algn="just" rtl="0">
              <a:lnSpc>
                <a:spcPct val="100000"/>
              </a:lnSpc>
              <a:spcBef>
                <a:spcPts val="0"/>
              </a:spcBef>
              <a:spcAft>
                <a:spcPts val="0"/>
              </a:spcAft>
              <a:buClr>
                <a:schemeClr val="accent1"/>
              </a:buClr>
              <a:buSzPts val="2400"/>
              <a:buFont typeface="Noto Sans Symbols"/>
              <a:buNone/>
            </a:pPr>
            <a:r>
              <a:rPr sz="1500"/>
              <a:t>Indian-accented ASR systems look fine on aggregate Word Error Rate, but nobody checks whether the errors fall evenly across accents, or whether an observed gap is real structure versus statistical noise. Phase 2 built an evaluation protocol for exactly this on Svarah (19 accents → 3 language families), pairing every gap with a Poisson significance test.</a:t>
            </a:r>
            <a:endParaRPr sz="1400" b="0" i="0" u="none" strike="noStrike" cap="none">
              <a:solidFill>
                <a:schemeClr val="accent1"/>
              </a:solidFill>
              <a:latin typeface="Arial"/>
              <a:ea typeface="Arial"/>
              <a:cs typeface="Arial"/>
              <a:sym typeface="Arial"/>
            </a:endParaRPr>
          </a:p>
          <a:p/>
          <a:p>
            <a:pPr>
              <a:buNone/>
            </a:pPr>
            <a:r>
              <a:rPr sz="1500"/>
              <a:t>In August, we found Sarvam's flagship Saaras V3 had been evaluated on our exact benchmark — shipped by a funded lab, with only an aggregate WER, no subgroup breakdown and no significance test. Rather than race a training result we cannot out-resource, Phase 3 points our own protocol at every ASR system we can reach: the open Whisper family, Saaras V3, and Qwen3-ASR. Six systems, one frozen decode and scoring path, six statistically significant per-family gaps.</a:t>
            </a:r>
          </a:p>
        </p:txBody>
      </p:sp>
      <p:sp>
        <p:nvSpPr>
          <p:cNvPr id="126" name="Google Shape;126;g3785cdd0013_0_18"/>
          <p:cNvSpPr txBox="1"/>
          <p:nvPr/>
        </p:nvSpPr>
        <p:spPr>
          <a:xfrm>
            <a:off x="4191000" y="1025102"/>
            <a:ext cx="6477000" cy="461700"/>
          </a:xfrm>
          <a:prstGeom prst="rect">
            <a:avLst/>
          </a:prstGeom>
          <a:noFill/>
          <a:ln>
            <a:noFill/>
          </a:ln>
        </p:spPr>
        <p:txBody>
          <a:bodyPr spcFirstLastPara="1" wrap="square" lIns="91425" tIns="45700" rIns="91425" bIns="45700" anchor="t" anchorCtr="0">
            <a:spAutoFit/>
          </a:bodyPr>
          <a:lstStyle/>
          <a:p>
            <a:pPr marL="342891" marR="0" lvl="0" indent="-342891"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rebuchet MS"/>
                <a:ea typeface="Trebuchet MS"/>
                <a:cs typeface="Trebuchet MS"/>
                <a:sym typeface="Trebuchet MS"/>
              </a:rPr>
              <a:t>Abstract and Scope</a:t>
            </a:r>
            <a:endParaRPr sz="1400" b="0" i="0" u="none" strike="noStrike" cap="none">
              <a:solidFill>
                <a:schemeClr val="dk1"/>
              </a:solidFill>
              <a:latin typeface="Arial"/>
              <a:ea typeface="Arial"/>
              <a:cs typeface="Arial"/>
              <a:sym typeface="Arial"/>
            </a:endParaRPr>
          </a:p>
        </p:txBody>
      </p:sp>
      <p:pic>
        <p:nvPicPr>
          <p:cNvPr id="127" name="Google Shape;127;g3785cdd0013_0_18"/>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28" name="Google Shape;128;g3785cdd0013_0_18"/>
          <p:cNvSpPr txBox="1"/>
          <p:nvPr/>
        </p:nvSpPr>
        <p:spPr>
          <a:xfrm>
            <a:off x="76201" y="63110"/>
            <a:ext cx="41148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888888"/>
                </a:solidFill>
                <a:latin typeface="Arial"/>
                <a:ea typeface="Arial"/>
                <a:cs typeface="Arial"/>
                <a:sym typeface="Arial"/>
              </a:rPr>
              <a:t>ASR Fairness Audit</a:t>
            </a:r>
            <a:endParaRPr sz="1200" b="0" i="0" u="none" strike="noStrike" cap="none">
              <a:solidFill>
                <a:srgbClr val="888888"/>
              </a:solidFill>
              <a:latin typeface="Arial"/>
              <a:ea typeface="Arial"/>
              <a:cs typeface="Arial"/>
              <a:sym typeface="Arial"/>
            </a:endParaRPr>
          </a:p>
        </p:txBody>
      </p:sp>
      <p:sp>
        <p:nvSpPr>
          <p:cNvPr id="129" name="Google Shape;129;g3785cdd0013_0_18"/>
          <p:cNvSpPr txBox="1">
            <a:spLocks noGrp="1"/>
          </p:cNvSpPr>
          <p:nvPr>
            <p:ph type="ftr" idx="11"/>
          </p:nvPr>
        </p:nvSpPr>
        <p:spPr>
          <a:xfrm>
            <a:off x="3686185" y="6459785"/>
            <a:ext cx="4822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Aditya_Adithya_Kaustubh_Aditi</a:t>
            </a:r>
            <a:endParaRPr/>
          </a:p>
        </p:txBody>
      </p:sp>
      <p:pic>
        <p:nvPicPr>
          <p:cNvPr id="7" name="Picture 6"/>
          <p:cNvPicPr/>
          <p:nvPr/>
        </p:nvPicPr>
        <p:blipFill>
          <a:blip r:embed="rId4"/>
          <a:srcRect/>
          <a:stretch>
            <a:fillRect/>
          </a:stretch>
        </p:blipFill>
        <p:spPr bwMode="auto">
          <a:xfrm>
            <a:off x="195549" y="160691"/>
            <a:ext cx="762000" cy="7858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3785cdd0013_0_28"/>
          <p:cNvSpPr txBox="1"/>
          <p:nvPr/>
        </p:nvSpPr>
        <p:spPr>
          <a:xfrm>
            <a:off x="2057400" y="2188868"/>
            <a:ext cx="9067800" cy="4212000"/>
          </a:xfrm>
          <a:prstGeom prst="rect">
            <a:avLst/>
          </a:prstGeom>
          <a:noFill/>
          <a:ln>
            <a:noFill/>
          </a:ln>
        </p:spPr>
        <p:txBody>
          <a:bodyPr spcFirstLastPara="1" wrap="square" lIns="91425" tIns="45700" rIns="91425" bIns="45700" anchor="t" anchorCtr="0">
            <a:noAutofit/>
          </a:bodyPr>
          <a:lstStyle/>
          <a:p>
            <a:pPr marL="685791" marR="0" indent="-342900" algn="just" rtl="0">
              <a:lnSpc>
                <a:spcPct val="100000"/>
              </a:lnSpc>
              <a:spcBef>
                <a:spcPts val="0"/>
              </a:spcBef>
              <a:spcAft>
                <a:spcPts val="0"/>
              </a:spcAft>
              <a:buClr>
                <a:schemeClr val="accent1"/>
              </a:buClr>
              <a:buSzPts val="2400"/>
              <a:buFont typeface="Noto Sans Symbols"/>
              <a:buNone/>
            </a:pPr>
            <a:r>
              <a:rPr sz="1350" b="0"/>
              <a:t>•  Built a Svarah evaluation pipeline: ΔDP, ΔEO, per-family noise-robustness, Poisson drop-in-deviance p-value</a:t>
            </a:r>
            <a:endParaRPr sz="1400" b="0" i="0" u="none" strike="noStrike" cap="none">
              <a:solidFill>
                <a:schemeClr val="accent1"/>
              </a:solidFill>
              <a:latin typeface="Arial"/>
              <a:ea typeface="Arial"/>
              <a:cs typeface="Arial"/>
              <a:sym typeface="Arial"/>
            </a:endParaRPr>
          </a:p>
          <a:p>
            <a:pPr>
              <a:buNone/>
            </a:pPr>
            <a:r>
              <a:rPr sz="1350" b="0"/>
              <a:t>•  GRL (Wav2Vec2 + LoRA) adversarial de-biasing WIDENED the accent gap — SPIRE-SIES has zero Sino-Tibetan speakers, so the adversary cannot reverse a gradient for a group it never sees</a:t>
            </a:r>
          </a:p>
          <a:p>
            <a:pPr>
              <a:buNone/>
            </a:pPr>
            <a:r>
              <a:rPr sz="1350" b="0"/>
              <a:t>•  Pivoted to GRPO / FR-CISPO RL post-training on whisper-tiny — safety-gated (per-token KL, ratio caps): H0 (300-cycle run at 3 learning rates) refuted, H6 replication failed at seed 2028; no publication-valid result yet on Svarah (authoritative speaker IDs unobtainable)</a:t>
            </a:r>
          </a:p>
          <a:p>
            <a:pPr>
              <a:buNone/>
            </a:pPr>
            <a:r>
              <a:rPr sz="1350" b="0"/>
              <a:t>•  One banked, real result: the SPIRE-SIES cross-corpus ladder — 29.89% → 24.79% overall WER, worst-20%-speaker WER ‒23.87 pp (4.7× the average gain) — but the explicit fairness term is provably inert</a:t>
            </a:r>
          </a:p>
          <a:p>
            <a:pPr>
              <a:buNone/>
            </a:pPr>
            <a:r>
              <a:rPr sz="1350" b="0"/>
              <a:t>•  August literature pass (63 records → 12 kept): Sarvam's Saaras V3 was validated on our exact Svarah benchmark; ASR-FAIRBENCH already publishes our Poisson-test idea; a Nov-2025 paper shows third-party ASR audits get through review</a:t>
            </a:r>
          </a:p>
          <a:p>
            <a:pPr>
              <a:buNone/>
            </a:pPr>
            <a:r>
              <a:rPr sz="1350" b="1"/>
              <a:t>•  → Pivot: stop competing on a training result, ship the audit our own pipeline was always capable of</a:t>
            </a:r>
          </a:p>
        </p:txBody>
      </p:sp>
      <p:sp>
        <p:nvSpPr>
          <p:cNvPr id="136" name="Google Shape;136;g3785cdd0013_0_28"/>
          <p:cNvSpPr txBox="1"/>
          <p:nvPr/>
        </p:nvSpPr>
        <p:spPr>
          <a:xfrm>
            <a:off x="2895600" y="990600"/>
            <a:ext cx="7848600" cy="461700"/>
          </a:xfrm>
          <a:prstGeom prst="rect">
            <a:avLst/>
          </a:prstGeom>
          <a:noFill/>
          <a:ln>
            <a:noFill/>
          </a:ln>
        </p:spPr>
        <p:txBody>
          <a:bodyPr spcFirstLastPara="1" wrap="square" lIns="91425" tIns="45700" rIns="91425" bIns="45700" anchor="t" anchorCtr="0">
            <a:spAutoFit/>
          </a:bodyPr>
          <a:lstStyle/>
          <a:p>
            <a:pPr marL="342891" marR="0" lvl="0" indent="-342891" algn="r" rtl="0">
              <a:lnSpc>
                <a:spcPct val="100000"/>
              </a:lnSpc>
              <a:spcBef>
                <a:spcPts val="0"/>
              </a:spcBef>
              <a:spcAft>
                <a:spcPts val="0"/>
              </a:spcAft>
              <a:buClr>
                <a:srgbClr val="000000"/>
              </a:buClr>
              <a:buSzPts val="2400"/>
              <a:buFont typeface="Arial"/>
              <a:buNone/>
            </a:pPr>
            <a:r>
              <a:rPr lang="en-US" sz="2200" b="0" i="0" u="none" strike="noStrike" cap="none">
                <a:solidFill>
                  <a:schemeClr val="dk1"/>
                </a:solidFill>
                <a:latin typeface="Trebuchet MS"/>
                <a:ea typeface="Trebuchet MS"/>
                <a:cs typeface="Trebuchet MS"/>
                <a:sym typeface="Trebuchet MS"/>
              </a:rPr>
              <a:t>Summary of Work Done in Phase – 2, and Why We Pivoted</a:t>
            </a:r>
            <a:endParaRPr sz="2400" b="0" i="0" u="none" strike="noStrike" cap="none">
              <a:solidFill>
                <a:schemeClr val="dk1"/>
              </a:solidFill>
              <a:latin typeface="Trebuchet MS"/>
              <a:ea typeface="Trebuchet MS"/>
              <a:cs typeface="Trebuchet MS"/>
              <a:sym typeface="Trebuchet MS"/>
            </a:endParaRPr>
          </a:p>
        </p:txBody>
      </p:sp>
      <p:pic>
        <p:nvPicPr>
          <p:cNvPr id="137" name="Google Shape;137;g3785cdd0013_0_28"/>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38" name="Google Shape;138;g3785cdd0013_0_28"/>
          <p:cNvSpPr txBox="1"/>
          <p:nvPr/>
        </p:nvSpPr>
        <p:spPr>
          <a:xfrm>
            <a:off x="76201" y="63110"/>
            <a:ext cx="41148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888888"/>
                </a:solidFill>
                <a:latin typeface="Arial"/>
                <a:ea typeface="Arial"/>
                <a:cs typeface="Arial"/>
                <a:sym typeface="Arial"/>
              </a:rPr>
              <a:t>ASR Fairness Audit</a:t>
            </a:r>
            <a:endParaRPr sz="1200" b="0" i="0" u="none" strike="noStrike" cap="none">
              <a:solidFill>
                <a:srgbClr val="888888"/>
              </a:solidFill>
              <a:latin typeface="Arial"/>
              <a:ea typeface="Arial"/>
              <a:cs typeface="Arial"/>
              <a:sym typeface="Arial"/>
            </a:endParaRPr>
          </a:p>
        </p:txBody>
      </p:sp>
      <p:sp>
        <p:nvSpPr>
          <p:cNvPr id="139" name="Google Shape;139;g3785cdd0013_0_28"/>
          <p:cNvSpPr txBox="1">
            <a:spLocks noGrp="1"/>
          </p:cNvSpPr>
          <p:nvPr>
            <p:ph type="ftr" idx="11"/>
          </p:nvPr>
        </p:nvSpPr>
        <p:spPr>
          <a:xfrm>
            <a:off x="3686185" y="6459785"/>
            <a:ext cx="4822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Aditya_Adithya_Kaustubh_Aditi</a:t>
            </a:r>
            <a:endParaRPr/>
          </a:p>
        </p:txBody>
      </p:sp>
      <p:pic>
        <p:nvPicPr>
          <p:cNvPr id="7" name="Picture 6"/>
          <p:cNvPicPr/>
          <p:nvPr/>
        </p:nvPicPr>
        <p:blipFill>
          <a:blip r:embed="rId4"/>
          <a:srcRect/>
          <a:stretch>
            <a:fillRect/>
          </a:stretch>
        </p:blipFill>
        <p:spPr bwMode="auto">
          <a:xfrm>
            <a:off x="195549" y="160691"/>
            <a:ext cx="762000" cy="7858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3785cdd0013_0_38"/>
          <p:cNvSpPr txBox="1"/>
          <p:nvPr/>
        </p:nvSpPr>
        <p:spPr>
          <a:xfrm>
            <a:off x="2773600" y="812200"/>
            <a:ext cx="7772400" cy="461700"/>
          </a:xfrm>
          <a:prstGeom prst="rect">
            <a:avLst/>
          </a:prstGeom>
          <a:noFill/>
          <a:ln>
            <a:noFill/>
          </a:ln>
        </p:spPr>
        <p:txBody>
          <a:bodyPr spcFirstLastPara="1" wrap="square" lIns="91425" tIns="45700" rIns="91425" bIns="45700" anchor="t" anchorCtr="0">
            <a:spAutoFit/>
          </a:bodyPr>
          <a:lstStyle/>
          <a:p>
            <a:pPr marL="342900" marR="0" lvl="0" indent="-34290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rebuchet MS"/>
                <a:ea typeface="Trebuchet MS"/>
                <a:cs typeface="Trebuchet MS"/>
                <a:sym typeface="Trebuchet MS"/>
              </a:rPr>
              <a:t>Architecture</a:t>
            </a:r>
            <a:endParaRPr sz="2400" b="0" i="0" u="none" strike="noStrike" cap="none">
              <a:solidFill>
                <a:schemeClr val="dk1"/>
              </a:solidFill>
              <a:latin typeface="Calibri"/>
              <a:ea typeface="Calibri"/>
              <a:cs typeface="Calibri"/>
              <a:sym typeface="Calibri"/>
            </a:endParaRPr>
          </a:p>
        </p:txBody>
      </p:sp>
      <p:sp>
        <p:nvSpPr>
          <p:cNvPr id="145" name="Google Shape;145;g3785cdd0013_0_38"/>
          <p:cNvSpPr txBox="1"/>
          <p:nvPr/>
        </p:nvSpPr>
        <p:spPr>
          <a:xfrm>
            <a:off x="1562100" y="1300000"/>
            <a:ext cx="9067800" cy="450000"/>
          </a:xfrm>
          <a:prstGeom prst="rect">
            <a:avLst/>
          </a:prstGeom>
          <a:noFill/>
          <a:ln>
            <a:noFill/>
          </a:ln>
        </p:spPr>
        <p:txBody>
          <a:bodyPr spcFirstLastPara="1" wrap="square" lIns="91425" tIns="45700" rIns="91425" bIns="45700" anchor="t" anchorCtr="0">
            <a:spAutoFit/>
          </a:bodyPr>
          <a:lstStyle/>
          <a:p>
            <a:pPr marL="457200" marR="0" lvl="0" indent="-457200" algn="ctr" rtl="0">
              <a:lnSpc>
                <a:spcPct val="100000"/>
              </a:lnSpc>
              <a:spcBef>
                <a:spcPts val="0"/>
              </a:spcBef>
              <a:spcAft>
                <a:spcPts val="0"/>
              </a:spcAft>
              <a:buClr>
                <a:schemeClr val="accent1"/>
              </a:buClr>
              <a:buSzPts val="2400"/>
              <a:buFont typeface="Calibri"/>
              <a:buNone/>
            </a:pPr>
            <a:r>
              <a:rPr lang="en-US" sz="1500" b="0" i="0" u="none" strike="noStrike" cap="none">
                <a:solidFill>
                  <a:schemeClr val="accent1"/>
                </a:solidFill>
                <a:latin typeface="Trebuchet MS"/>
                <a:ea typeface="Trebuchet MS"/>
                <a:cs typeface="Trebuchet MS"/>
                <a:sym typeface="Trebuchet MS"/>
              </a:rPr>
              <a:t>One frozen pipeline, six systems: acquire → transcribe → score → test → verdict</a:t>
            </a:r>
            <a:endParaRPr sz="1400" b="0" i="0" u="none" strike="noStrike" cap="none">
              <a:solidFill>
                <a:schemeClr val="accent1"/>
              </a:solidFill>
              <a:latin typeface="Arial"/>
              <a:ea typeface="Arial"/>
              <a:cs typeface="Arial"/>
              <a:sym typeface="Arial"/>
            </a:endParaRPr>
          </a:p>
          <a:p>
            <a:pPr marL="457200" marR="0" lvl="0" indent="-457200" algn="just" rtl="0">
              <a:lnSpc>
                <a:spcPct val="100000"/>
              </a:lnSpc>
              <a:spcBef>
                <a:spcPts val="0"/>
              </a:spcBef>
              <a:spcAft>
                <a:spcPts val="0"/>
              </a:spcAft>
              <a:buClr>
                <a:srgbClr val="000000"/>
              </a:buClr>
              <a:buSzPts val="2400"/>
              <a:buFont typeface="Arial"/>
              <a:buNone/>
            </a:pPr>
            <a:endParaRPr sz="2400" b="0" i="0" u="none" strike="noStrike" cap="none">
              <a:solidFill>
                <a:schemeClr val="accent1"/>
              </a:solidFill>
              <a:latin typeface="Trebuchet MS"/>
              <a:ea typeface="Trebuchet MS"/>
              <a:cs typeface="Trebuchet MS"/>
              <a:sym typeface="Trebuchet MS"/>
            </a:endParaRPr>
          </a:p>
          <a:p>
            <a:pPr marL="457200" marR="0" lvl="0" indent="-457200" algn="just" rtl="0">
              <a:lnSpc>
                <a:spcPct val="100000"/>
              </a:lnSpc>
              <a:spcBef>
                <a:spcPts val="0"/>
              </a:spcBef>
              <a:spcAft>
                <a:spcPts val="0"/>
              </a:spcAft>
              <a:buClr>
                <a:srgbClr val="000000"/>
              </a:buClr>
              <a:buSzPts val="1400"/>
              <a:buFont typeface="Arial"/>
              <a:buNone/>
            </a:pPr>
            <a:endParaRPr sz="1400" b="0" i="0" u="none" strike="noStrike" cap="none">
              <a:solidFill>
                <a:schemeClr val="accent1"/>
              </a:solidFill>
              <a:latin typeface="Arial"/>
              <a:ea typeface="Arial"/>
              <a:cs typeface="Arial"/>
              <a:sym typeface="Arial"/>
            </a:endParaRPr>
          </a:p>
        </p:txBody>
      </p:sp>
      <p:pic>
        <p:nvPicPr>
          <p:cNvPr id="146" name="Google Shape;146;g3785cdd0013_0_38"/>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47" name="Google Shape;147;g3785cdd0013_0_38"/>
          <p:cNvSpPr txBox="1"/>
          <p:nvPr/>
        </p:nvSpPr>
        <p:spPr>
          <a:xfrm>
            <a:off x="76201" y="63110"/>
            <a:ext cx="41148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888888"/>
                </a:solidFill>
                <a:latin typeface="Arial"/>
                <a:ea typeface="Arial"/>
                <a:cs typeface="Arial"/>
                <a:sym typeface="Arial"/>
              </a:rPr>
              <a:t>ASR Fairness Audit</a:t>
            </a:r>
            <a:endParaRPr sz="1200" b="0" i="0" u="none" strike="noStrike" cap="none">
              <a:solidFill>
                <a:srgbClr val="888888"/>
              </a:solidFill>
              <a:latin typeface="Arial"/>
              <a:ea typeface="Arial"/>
              <a:cs typeface="Arial"/>
              <a:sym typeface="Arial"/>
            </a:endParaRPr>
          </a:p>
        </p:txBody>
      </p:sp>
      <p:sp>
        <p:nvSpPr>
          <p:cNvPr id="148" name="Google Shape;148;g3785cdd0013_0_38"/>
          <p:cNvSpPr txBox="1">
            <a:spLocks noGrp="1"/>
          </p:cNvSpPr>
          <p:nvPr>
            <p:ph type="ftr" idx="11"/>
          </p:nvPr>
        </p:nvSpPr>
        <p:spPr>
          <a:xfrm>
            <a:off x="3686185" y="6459785"/>
            <a:ext cx="4822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Aditya_Adithya_Kaustubh_Aditi</a:t>
            </a:r>
            <a:endParaRPr/>
          </a:p>
        </p:txBody>
      </p:sp>
      <p:pic>
        <p:nvPicPr>
          <p:cNvPr id="7" name="Picture 6"/>
          <p:cNvPicPr/>
          <p:nvPr/>
        </p:nvPicPr>
        <p:blipFill>
          <a:blip r:embed="rId4"/>
          <a:srcRect/>
          <a:stretch>
            <a:fillRect/>
          </a:stretch>
        </p:blipFill>
        <p:spPr bwMode="auto">
          <a:xfrm>
            <a:off x="195549" y="160691"/>
            <a:ext cx="762000" cy="785813"/>
          </a:xfrm>
          <a:prstGeom prst="rect">
            <a:avLst/>
          </a:prstGeom>
          <a:noFill/>
          <a:ln w="9525">
            <a:noFill/>
            <a:miter lim="800000"/>
            <a:headEnd/>
            <a:tailEnd/>
          </a:ln>
        </p:spPr>
      </p:pic>
      <p:pic>
        <p:nvPicPr>
          <p:cNvPr id="149" name="Picture 148" descr="architecture.png"/>
          <p:cNvPicPr>
            <a:picLocks noChangeAspect="1"/>
          </p:cNvPicPr>
          <p:nvPr/>
        </p:nvPicPr>
        <p:blipFill>
          <a:blip r:embed="rId5"/>
          <a:stretch>
            <a:fillRect/>
          </a:stretch>
        </p:blipFill>
        <p:spPr>
          <a:xfrm>
            <a:off x="1314103" y="1900000"/>
            <a:ext cx="9563793" cy="43000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785cdd0013_0_47"/>
          <p:cNvSpPr txBox="1"/>
          <p:nvPr/>
        </p:nvSpPr>
        <p:spPr>
          <a:xfrm>
            <a:off x="3048000" y="780763"/>
            <a:ext cx="7772400" cy="461700"/>
          </a:xfrm>
          <a:prstGeom prst="rect">
            <a:avLst/>
          </a:prstGeom>
          <a:noFill/>
          <a:ln>
            <a:noFill/>
          </a:ln>
        </p:spPr>
        <p:txBody>
          <a:bodyPr spcFirstLastPara="1" wrap="square" lIns="91425" tIns="45700" rIns="91425" bIns="45700" anchor="t" anchorCtr="0">
            <a:spAutoFit/>
          </a:bodyPr>
          <a:lstStyle/>
          <a:p>
            <a:pPr marL="342900" marR="0" lvl="0" indent="-34290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rebuchet MS"/>
                <a:ea typeface="Trebuchet MS"/>
                <a:cs typeface="Trebuchet MS"/>
                <a:sym typeface="Trebuchet MS"/>
              </a:rPr>
              <a:t>List of Tasks/Modules</a:t>
            </a:r>
            <a:endParaRPr sz="2400" b="0" i="0" u="none" strike="noStrike" cap="none">
              <a:solidFill>
                <a:schemeClr val="dk1"/>
              </a:solidFill>
              <a:latin typeface="Calibri"/>
              <a:ea typeface="Calibri"/>
              <a:cs typeface="Calibri"/>
              <a:sym typeface="Calibri"/>
            </a:endParaRPr>
          </a:p>
        </p:txBody>
      </p:sp>
      <p:sp>
        <p:nvSpPr>
          <p:cNvPr id="154" name="Google Shape;154;g3785cdd0013_0_47"/>
          <p:cNvSpPr txBox="1"/>
          <p:nvPr/>
        </p:nvSpPr>
        <p:spPr>
          <a:xfrm>
            <a:off x="1563675" y="1242475"/>
            <a:ext cx="9582300" cy="4894800"/>
          </a:xfrm>
          <a:prstGeom prst="rect">
            <a:avLst/>
          </a:prstGeom>
          <a:noFill/>
          <a:ln>
            <a:noFill/>
          </a:ln>
        </p:spPr>
        <p:txBody>
          <a:bodyPr spcFirstLastPara="1" wrap="square" lIns="91425" tIns="45700" rIns="91425" bIns="45700" anchor="t" anchorCtr="0">
            <a:spAutoFit/>
          </a:bodyPr>
          <a:lstStyle/>
          <a:p>
            <a:pPr marL="457200" marR="0" indent="-457200" algn="just" rtl="0">
              <a:lnSpc>
                <a:spcPct val="100000"/>
              </a:lnSpc>
              <a:spcBef>
                <a:spcPts val="0"/>
              </a:spcBef>
              <a:spcAft>
                <a:spcPts val="0"/>
              </a:spcAft>
              <a:buClr>
                <a:schemeClr val="accent1"/>
              </a:buClr>
              <a:buSzPts val="2400"/>
              <a:buFont typeface="Calibri"/>
              <a:buNone/>
            </a:pPr>
            <a:r>
              <a:rPr sz="1300" b="0"/>
              <a:t>•  Data module — Svarah loader (ai4bharat/svarah), 19-accent → 3-family taxonomy, per-family stratified sampling</a:t>
            </a:r>
            <a:endParaRPr sz="1400" b="0" i="0" u="none" strike="noStrike" cap="none">
              <a:solidFill>
                <a:schemeClr val="accent1"/>
              </a:solidFill>
              <a:latin typeface="Arial"/>
              <a:ea typeface="Arial"/>
              <a:cs typeface="Arial"/>
              <a:sym typeface="Arial"/>
            </a:endParaRPr>
          </a:p>
          <a:p>
            <a:pPr>
              <a:buNone/>
            </a:pPr>
            <a:r>
              <a:rPr sz="1300" b="0"/>
              <a:t>•  Whisper-family audit module — whisper-tiny / small / large-v3 / distil-large-v3 on Modal T4 GPUs, 2,500 clips each</a:t>
            </a:r>
          </a:p>
          <a:p>
            <a:pPr>
              <a:buNone/>
            </a:pPr>
            <a:r>
              <a:rPr sz="1300" b="0"/>
              <a:t>•  External-API module — Sarvam Saaras V3 REST client (cached, rate-limited) and Qwen3-ASR-0.6B via Transformers</a:t>
            </a:r>
          </a:p>
          <a:p>
            <a:pPr>
              <a:buNone/>
            </a:pPr>
            <a:r>
              <a:rPr sz="1300" b="0"/>
              <a:t>•  Scoring module — ast_asr.metrics.normalize_for_wer / word_edit_counts, reused unchanged from Phase 2</a:t>
            </a:r>
          </a:p>
          <a:p>
            <a:pPr>
              <a:buNone/>
            </a:pPr>
            <a:r>
              <a:rPr sz="1300" b="0"/>
              <a:t>•  Statistics module — Poisson drop-in-deviance GLM (statsmodels) → ΔDP + p-value + structural/noise verdict</a:t>
            </a:r>
          </a:p>
          <a:p>
            <a:pPr>
              <a:buNone/>
            </a:pPr>
            <a:r>
              <a:rPr sz="1300" b="0"/>
              <a:t>•  Cost-guardrail module — pre-flight estimate, in-run measured-rate re-plan, hard Modal timeout on every job</a:t>
            </a:r>
          </a:p>
          <a:p>
            <a:pPr>
              <a:buNone/>
            </a:pPr>
            <a:r>
              <a:rPr sz="1300" b="0"/>
              <a:t>•  Results-assembly module — schema-hard-fail assembler (9/9 pytest green) that recomputes every reported number straight from the per-utterance CSVs and cross-checks it against each summary JSON</a:t>
            </a:r>
          </a:p>
          <a:p>
            <a:pPr>
              <a:buNone/>
            </a:pPr>
            <a:r>
              <a:rPr sz="1300" b="0"/>
              <a:t>•  Side-quest module — on-policy distillation (whisper-tiny ← whisper-large-v3) PoC on Modal, parked as a future direction</a:t>
            </a:r>
          </a:p>
          <a:p>
            <a:pPr>
              <a:buNone/>
            </a:pPr>
          </a:p>
          <a:p>
            <a:pPr>
              <a:buNone/>
            </a:pPr>
            <a:r>
              <a:rPr sz="1300" b="0"/>
              <a:t>•  Tools / tech: Modal (serverless GPU), PyTorch + Transformers, HF Datasets/torchcodec, statsmodels, Sarvam Saaras V3 API, Qwen3-ASR — all open-source or free-tier API access</a:t>
            </a:r>
          </a:p>
        </p:txBody>
      </p:sp>
      <p:pic>
        <p:nvPicPr>
          <p:cNvPr id="155" name="Google Shape;155;g3785cdd0013_0_47"/>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56" name="Google Shape;156;g3785cdd0013_0_47"/>
          <p:cNvSpPr txBox="1"/>
          <p:nvPr/>
        </p:nvSpPr>
        <p:spPr>
          <a:xfrm>
            <a:off x="76201" y="63110"/>
            <a:ext cx="41148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888888"/>
                </a:solidFill>
                <a:latin typeface="Arial"/>
                <a:ea typeface="Arial"/>
                <a:cs typeface="Arial"/>
                <a:sym typeface="Arial"/>
              </a:rPr>
              <a:t>ASR Fairness Audit</a:t>
            </a:r>
            <a:endParaRPr sz="1200" b="0" i="0" u="none" strike="noStrike" cap="none">
              <a:solidFill>
                <a:srgbClr val="888888"/>
              </a:solidFill>
              <a:latin typeface="Arial"/>
              <a:ea typeface="Arial"/>
              <a:cs typeface="Arial"/>
              <a:sym typeface="Arial"/>
            </a:endParaRPr>
          </a:p>
        </p:txBody>
      </p:sp>
      <p:sp>
        <p:nvSpPr>
          <p:cNvPr id="157" name="Google Shape;157;g3785cdd0013_0_47"/>
          <p:cNvSpPr txBox="1">
            <a:spLocks noGrp="1"/>
          </p:cNvSpPr>
          <p:nvPr>
            <p:ph type="ftr" idx="11"/>
          </p:nvPr>
        </p:nvSpPr>
        <p:spPr>
          <a:xfrm>
            <a:off x="3686185" y="6459785"/>
            <a:ext cx="4822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Aditya_Adithya_Kaustubh_Aditi</a:t>
            </a:r>
            <a:endParaRPr/>
          </a:p>
        </p:txBody>
      </p:sp>
      <p:pic>
        <p:nvPicPr>
          <p:cNvPr id="7" name="Picture 6"/>
          <p:cNvPicPr/>
          <p:nvPr/>
        </p:nvPicPr>
        <p:blipFill>
          <a:blip r:embed="rId4"/>
          <a:srcRect/>
          <a:stretch>
            <a:fillRect/>
          </a:stretch>
        </p:blipFill>
        <p:spPr bwMode="auto">
          <a:xfrm>
            <a:off x="195549" y="160691"/>
            <a:ext cx="762000" cy="7858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g3785cdd0013_0_56"/>
          <p:cNvSpPr txBox="1"/>
          <p:nvPr/>
        </p:nvSpPr>
        <p:spPr>
          <a:xfrm>
            <a:off x="3351475" y="984602"/>
            <a:ext cx="7772400" cy="461700"/>
          </a:xfrm>
          <a:prstGeom prst="rect">
            <a:avLst/>
          </a:prstGeom>
          <a:noFill/>
          <a:ln>
            <a:noFill/>
          </a:ln>
        </p:spPr>
        <p:txBody>
          <a:bodyPr spcFirstLastPara="1" wrap="square" lIns="91425" tIns="45700" rIns="91425" bIns="45700" anchor="t" anchorCtr="0">
            <a:spAutoFit/>
          </a:bodyPr>
          <a:lstStyle/>
          <a:p>
            <a:pPr marL="342900" marR="0" lvl="0" indent="-34290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rebuchet MS"/>
                <a:ea typeface="Trebuchet MS"/>
                <a:cs typeface="Trebuchet MS"/>
                <a:sym typeface="Trebuchet MS"/>
              </a:rPr>
              <a:t>Individual Contribution</a:t>
            </a:r>
            <a:endParaRPr sz="2400" b="0" i="0" u="none" strike="noStrike" cap="none">
              <a:solidFill>
                <a:schemeClr val="dk1"/>
              </a:solidFill>
              <a:latin typeface="Calibri"/>
              <a:ea typeface="Calibri"/>
              <a:cs typeface="Calibri"/>
              <a:sym typeface="Calibri"/>
            </a:endParaRPr>
          </a:p>
        </p:txBody>
      </p:sp>
      <p:pic>
        <p:nvPicPr>
          <p:cNvPr id="164" name="Google Shape;164;g3785cdd0013_0_56"/>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65" name="Google Shape;165;g3785cdd0013_0_56"/>
          <p:cNvSpPr txBox="1"/>
          <p:nvPr/>
        </p:nvSpPr>
        <p:spPr>
          <a:xfrm>
            <a:off x="76201" y="63110"/>
            <a:ext cx="41148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888888"/>
                </a:solidFill>
                <a:latin typeface="Arial"/>
                <a:ea typeface="Arial"/>
                <a:cs typeface="Arial"/>
                <a:sym typeface="Arial"/>
              </a:rPr>
              <a:t>ASR Fairness Audit</a:t>
            </a:r>
            <a:endParaRPr sz="1200" b="0" i="0" u="none" strike="noStrike" cap="none">
              <a:solidFill>
                <a:srgbClr val="888888"/>
              </a:solidFill>
              <a:latin typeface="Arial"/>
              <a:ea typeface="Arial"/>
              <a:cs typeface="Arial"/>
              <a:sym typeface="Arial"/>
            </a:endParaRPr>
          </a:p>
        </p:txBody>
      </p:sp>
      <p:sp>
        <p:nvSpPr>
          <p:cNvPr id="166" name="Google Shape;166;g3785cdd0013_0_56"/>
          <p:cNvSpPr txBox="1">
            <a:spLocks noGrp="1"/>
          </p:cNvSpPr>
          <p:nvPr>
            <p:ph type="ftr" idx="11"/>
          </p:nvPr>
        </p:nvSpPr>
        <p:spPr>
          <a:xfrm>
            <a:off x="3686185" y="6459785"/>
            <a:ext cx="4822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Aditya_Adithya_Kaustubh_Aditi</a:t>
            </a:r>
            <a:endParaRPr/>
          </a:p>
        </p:txBody>
      </p:sp>
      <p:pic>
        <p:nvPicPr>
          <p:cNvPr id="7" name="Picture 6"/>
          <p:cNvPicPr/>
          <p:nvPr/>
        </p:nvPicPr>
        <p:blipFill>
          <a:blip r:embed="rId4"/>
          <a:srcRect/>
          <a:stretch>
            <a:fillRect/>
          </a:stretch>
        </p:blipFill>
        <p:spPr bwMode="auto">
          <a:xfrm>
            <a:off x="195549" y="160691"/>
            <a:ext cx="762000" cy="785813"/>
          </a:xfrm>
          <a:prstGeom prst="rect">
            <a:avLst/>
          </a:prstGeom>
          <a:noFill/>
          <a:ln w="9525">
            <a:noFill/>
            <a:miter lim="800000"/>
            <a:headEnd/>
            <a:tailEnd/>
          </a:ln>
        </p:spPr>
      </p:pic>
      <p:graphicFrame>
        <p:nvGraphicFramePr>
          <p:cNvPr id="167" name="Table 166"/>
          <p:cNvGraphicFramePr>
            <a:graphicFrameLocks noGrp="1"/>
          </p:cNvGraphicFramePr>
          <p:nvPr/>
        </p:nvGraphicFramePr>
        <p:xfrm>
          <a:off x="1828800" y="1752600"/>
          <a:ext cx="9067800" cy="2650000"/>
        </p:xfrm>
        <a:graphic>
          <a:graphicData uri="http://schemas.openxmlformats.org/drawingml/2006/table">
            <a:tbl>
              <a:tblPr firstRow="1" bandRow="1">
                <a:tableStyleId>{5C22544A-7EE6-4342-B048-85BDC9FD1C3A}</a:tableStyleId>
              </a:tblPr>
              <a:tblGrid>
                <a:gridCol w="1900000"/>
                <a:gridCol w="1650000"/>
                <a:gridCol w="4400000"/>
                <a:gridCol w="1117800"/>
              </a:tblGrid>
              <a:tr h="530000">
                <a:tc>
                  <a:txBody>
                    <a:bodyPr/>
                    <a:lstStyle/>
                    <a:p>
                      <a:pPr>
                        <a:defRPr sz="1250" b="1"/>
                      </a:pPr>
                      <a:r>
                        <a:t>Member</a:t>
                      </a:r>
                    </a:p>
                  </a:txBody>
                  <a:tcPr/>
                </a:tc>
                <a:tc>
                  <a:txBody>
                    <a:bodyPr/>
                    <a:lstStyle/>
                    <a:p>
                      <a:pPr>
                        <a:defRPr sz="1250" b="1"/>
                      </a:pPr>
                      <a:r>
                        <a:t>Task / Module</a:t>
                      </a:r>
                    </a:p>
                  </a:txBody>
                  <a:tcPr/>
                </a:tc>
                <a:tc>
                  <a:txBody>
                    <a:bodyPr/>
                    <a:lstStyle/>
                    <a:p>
                      <a:pPr>
                        <a:defRPr sz="1250" b="1"/>
                      </a:pPr>
                      <a:r>
                        <a:t>Contribution</a:t>
                      </a:r>
                    </a:p>
                  </a:txBody>
                  <a:tcPr/>
                </a:tc>
                <a:tc>
                  <a:txBody>
                    <a:bodyPr/>
                    <a:lstStyle/>
                    <a:p>
                      <a:pPr>
                        <a:defRPr sz="1250" b="1"/>
                      </a:pPr>
                      <a:r>
                        <a:t>Status</a:t>
                      </a:r>
                    </a:p>
                  </a:txBody>
                  <a:tcPr/>
                </a:tc>
              </a:tr>
              <a:tr h="530000">
                <a:tc>
                  <a:txBody>
                    <a:bodyPr/>
                    <a:lstStyle/>
                    <a:p>
                      <a:pPr>
                        <a:defRPr sz="1150"/>
                      </a:pPr>
                      <a:r>
                        <a:t>Aditya Sharma</a:t>
                      </a:r>
                    </a:p>
                  </a:txBody>
                  <a:tcPr/>
                </a:tc>
                <a:tc>
                  <a:txBody>
                    <a:bodyPr/>
                    <a:lstStyle/>
                    <a:p>
                      <a:pPr>
                        <a:defRPr sz="1150"/>
                      </a:pPr>
                      <a:r>
                        <a:t>Whisper-family fleet</a:t>
                      </a:r>
                    </a:p>
                  </a:txBody>
                  <a:tcPr/>
                </a:tc>
                <a:tc>
                  <a:txBody>
                    <a:bodyPr/>
                    <a:lstStyle/>
                    <a:p>
                      <a:pPr>
                        <a:defRPr sz="1150"/>
                      </a:pPr>
                      <a:r>
                        <a:t>Ported Phase 2's eval pipeline to Modal; whisper-tiny/small/large-v3/distil-large-v3, 2,500 clips each</a:t>
                      </a:r>
                    </a:p>
                  </a:txBody>
                  <a:tcPr/>
                </a:tc>
                <a:tc>
                  <a:txBody>
                    <a:bodyPr/>
                    <a:lstStyle/>
                    <a:p>
                      <a:pPr>
                        <a:defRPr sz="1150"/>
                      </a:pPr>
                      <a:r>
                        <a:t>Complete</a:t>
                      </a:r>
                    </a:p>
                  </a:txBody>
                  <a:tcPr/>
                </a:tc>
              </a:tr>
              <a:tr h="530000">
                <a:tc>
                  <a:txBody>
                    <a:bodyPr/>
                    <a:lstStyle/>
                    <a:p>
                      <a:pPr>
                        <a:defRPr sz="1150"/>
                      </a:pPr>
                      <a:r>
                        <a:t>Adithya V Holla</a:t>
                      </a:r>
                    </a:p>
                  </a:txBody>
                  <a:tcPr/>
                </a:tc>
                <a:tc>
                  <a:txBody>
                    <a:bodyPr/>
                    <a:lstStyle/>
                    <a:p>
                      <a:pPr>
                        <a:defRPr sz="1150"/>
                      </a:pPr>
                      <a:r>
                        <a:t>External systems</a:t>
                      </a:r>
                    </a:p>
                  </a:txBody>
                  <a:tcPr/>
                </a:tc>
                <a:tc>
                  <a:txBody>
                    <a:bodyPr/>
                    <a:lstStyle/>
                    <a:p>
                      <a:pPr>
                        <a:defRPr sz="1150"/>
                      </a:pPr>
                      <a:r>
                        <a:t>Sarvam Saaras V3 client (cache + backoff) and Qwen3-ASR-0.6B feasibility + run</a:t>
                      </a:r>
                    </a:p>
                  </a:txBody>
                  <a:tcPr/>
                </a:tc>
                <a:tc>
                  <a:txBody>
                    <a:bodyPr/>
                    <a:lstStyle/>
                    <a:p>
                      <a:pPr>
                        <a:defRPr sz="1150"/>
                      </a:pPr>
                      <a:r>
                        <a:t>Complete</a:t>
                      </a:r>
                    </a:p>
                  </a:txBody>
                  <a:tcPr/>
                </a:tc>
              </a:tr>
              <a:tr h="530000">
                <a:tc>
                  <a:txBody>
                    <a:bodyPr/>
                    <a:lstStyle/>
                    <a:p>
                      <a:pPr>
                        <a:defRPr sz="1150"/>
                      </a:pPr>
                      <a:r>
                        <a:t>Aditi Mangala Udaya</a:t>
                      </a:r>
                    </a:p>
                  </a:txBody>
                  <a:tcPr/>
                </a:tc>
                <a:tc>
                  <a:txBody>
                    <a:bodyPr/>
                    <a:lstStyle/>
                    <a:p>
                      <a:pPr>
                        <a:defRPr sz="1150"/>
                      </a:pPr>
                      <a:r>
                        <a:t>Assembly &amp; receipts</a:t>
                      </a:r>
                    </a:p>
                  </a:txBody>
                  <a:tcPr/>
                </a:tc>
                <a:tc>
                  <a:txBody>
                    <a:bodyPr/>
                    <a:lstStyle/>
                    <a:p>
                      <a:pPr>
                        <a:defRPr sz="1150"/>
                      </a:pPr>
                      <a:r>
                        <a:t>Schema-hard-fail results assembler (9/9 tests green, reproduces all 6 rows exactly); 3-source receipts pack (PDF); fixed the HuBERT-row and [17]-citation report bugs</a:t>
                      </a:r>
                    </a:p>
                  </a:txBody>
                  <a:tcPr/>
                </a:tc>
                <a:tc>
                  <a:txBody>
                    <a:bodyPr/>
                    <a:lstStyle/>
                    <a:p>
                      <a:pPr>
                        <a:defRPr sz="1150"/>
                      </a:pPr>
                      <a:r>
                        <a:t>Complete</a:t>
                      </a:r>
                    </a:p>
                  </a:txBody>
                  <a:tcPr/>
                </a:tc>
              </a:tr>
              <a:tr h="530000">
                <a:tc>
                  <a:txBody>
                    <a:bodyPr/>
                    <a:lstStyle/>
                    <a:p>
                      <a:pPr>
                        <a:defRPr sz="1150"/>
                      </a:pPr>
                      <a:r>
                        <a:t>C Kaustubh</a:t>
                      </a:r>
                    </a:p>
                  </a:txBody>
                  <a:tcPr/>
                </a:tc>
                <a:tc>
                  <a:txBody>
                    <a:bodyPr/>
                    <a:lstStyle/>
                    <a:p>
                      <a:pPr>
                        <a:defRPr sz="1150"/>
                      </a:pPr>
                      <a:r>
                        <a:t>Pivot lead + audit</a:t>
                      </a:r>
                    </a:p>
                  </a:txBody>
                  <a:tcPr/>
                </a:tc>
                <a:tc>
                  <a:txBody>
                    <a:bodyPr/>
                    <a:lstStyle/>
                    <a:p>
                      <a:pPr>
                        <a:defRPr sz="1150"/>
                      </a:pPr>
                      <a:r>
                        <a:t>Literature search, pivot memo, blockers A/B, on-policy distillation side-quest (whispr-nano), and ran all six audit systems end-to-end to hit this review's deadline</a:t>
                      </a:r>
                    </a:p>
                  </a:txBody>
                  <a:tcPr/>
                </a:tc>
                <a:tc>
                  <a:txBody>
                    <a:bodyPr/>
                    <a:lstStyle/>
                    <a:p>
                      <a:pPr>
                        <a:defRPr sz="1150"/>
                      </a:pPr>
                      <a:r>
                        <a:t>Complete</a:t>
                      </a:r>
                    </a:p>
                  </a:txBody>
                  <a:tcPr/>
                </a:tc>
              </a:tr>
            </a:tbl>
          </a:graphicData>
        </a:graphic>
      </p:graphicFrame>
      <p:sp>
        <p:nvSpPr>
          <p:cNvPr id="168" name="TextBox 167"/>
          <p:cNvSpPr txBox="1"/>
          <p:nvPr/>
        </p:nvSpPr>
        <p:spPr>
          <a:xfrm>
            <a:off x="1828800" y="4502600"/>
            <a:ext cx="9067800" cy="500000"/>
          </a:xfrm>
          <a:prstGeom prst="rect">
            <a:avLst/>
          </a:prstGeom>
          <a:noFill/>
        </p:spPr>
        <p:txBody>
          <a:bodyPr wrap="square">
            <a:spAutoFit/>
          </a:bodyPr>
          <a:lstStyle/>
          <a:p>
            <a:pPr>
              <a:defRPr sz="1100" i="1"/>
            </a:pPr>
            <a:r>
              <a:t>Note: given the review deadline, Kaustubh personally ran all six audit systems (including the Whisper-family and external-API tracks) and completed the assembler/receipts/report-fix tasks on Modal + the vendor APIs; ownership above reflects the planned task split and hand-off documentation, which the team is now reconciling in parallel.</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785cdd0013_0_65"/>
          <p:cNvSpPr txBox="1"/>
          <p:nvPr/>
        </p:nvSpPr>
        <p:spPr>
          <a:xfrm>
            <a:off x="2971800" y="984602"/>
            <a:ext cx="7772400" cy="461700"/>
          </a:xfrm>
          <a:prstGeom prst="rect">
            <a:avLst/>
          </a:prstGeom>
          <a:noFill/>
          <a:ln>
            <a:noFill/>
          </a:ln>
        </p:spPr>
        <p:txBody>
          <a:bodyPr spcFirstLastPara="1" wrap="square" lIns="91425" tIns="45700" rIns="91425" bIns="45700" anchor="t" anchorCtr="0">
            <a:spAutoFit/>
          </a:bodyPr>
          <a:lstStyle/>
          <a:p>
            <a:pPr marL="342900" marR="0" lvl="0" indent="-34290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rebuchet MS"/>
                <a:ea typeface="Trebuchet MS"/>
                <a:cs typeface="Trebuchet MS"/>
                <a:sym typeface="Trebuchet MS"/>
              </a:rPr>
              <a:t>Demonstration: the Six-System Svarah Fairness Audit</a:t>
            </a:r>
            <a:endParaRPr sz="2400" b="0" i="0" u="none" strike="noStrike" cap="none">
              <a:solidFill>
                <a:schemeClr val="dk1"/>
              </a:solidFill>
              <a:latin typeface="Calibri"/>
              <a:ea typeface="Calibri"/>
              <a:cs typeface="Calibri"/>
              <a:sym typeface="Calibri"/>
            </a:endParaRPr>
          </a:p>
        </p:txBody>
      </p:sp>
      <p:pic>
        <p:nvPicPr>
          <p:cNvPr id="173" name="Google Shape;173;g3785cdd0013_0_65"/>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74" name="Google Shape;174;g3785cdd0013_0_65"/>
          <p:cNvSpPr txBox="1"/>
          <p:nvPr/>
        </p:nvSpPr>
        <p:spPr>
          <a:xfrm>
            <a:off x="76201" y="63110"/>
            <a:ext cx="41148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888888"/>
                </a:solidFill>
                <a:latin typeface="Arial"/>
                <a:ea typeface="Arial"/>
                <a:cs typeface="Arial"/>
                <a:sym typeface="Arial"/>
              </a:rPr>
              <a:t>ASR Fairness Audit</a:t>
            </a:r>
            <a:endParaRPr sz="1200" b="0" i="0" u="none" strike="noStrike" cap="none">
              <a:solidFill>
                <a:srgbClr val="888888"/>
              </a:solidFill>
              <a:latin typeface="Arial"/>
              <a:ea typeface="Arial"/>
              <a:cs typeface="Arial"/>
              <a:sym typeface="Arial"/>
            </a:endParaRPr>
          </a:p>
        </p:txBody>
      </p:sp>
      <p:sp>
        <p:nvSpPr>
          <p:cNvPr id="175" name="Google Shape;175;g3785cdd0013_0_65"/>
          <p:cNvSpPr txBox="1">
            <a:spLocks noGrp="1"/>
          </p:cNvSpPr>
          <p:nvPr>
            <p:ph type="ftr" idx="11"/>
          </p:nvPr>
        </p:nvSpPr>
        <p:spPr>
          <a:xfrm>
            <a:off x="3686185" y="6459785"/>
            <a:ext cx="4822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Aditya_Adithya_Kaustubh_Aditi</a:t>
            </a:r>
            <a:endParaRPr/>
          </a:p>
        </p:txBody>
      </p:sp>
      <p:pic>
        <p:nvPicPr>
          <p:cNvPr id="7" name="Picture 6"/>
          <p:cNvPicPr/>
          <p:nvPr/>
        </p:nvPicPr>
        <p:blipFill>
          <a:blip r:embed="rId4"/>
          <a:srcRect/>
          <a:stretch>
            <a:fillRect/>
          </a:stretch>
        </p:blipFill>
        <p:spPr bwMode="auto">
          <a:xfrm>
            <a:off x="195549" y="160691"/>
            <a:ext cx="762000" cy="785813"/>
          </a:xfrm>
          <a:prstGeom prst="rect">
            <a:avLst/>
          </a:prstGeom>
          <a:noFill/>
          <a:ln w="9525">
            <a:noFill/>
            <a:miter lim="800000"/>
            <a:headEnd/>
            <a:tailEnd/>
          </a:ln>
        </p:spPr>
      </p:pic>
      <p:graphicFrame>
        <p:nvGraphicFramePr>
          <p:cNvPr id="176" name="Table 175"/>
          <p:cNvGraphicFramePr>
            <a:graphicFrameLocks noGrp="1"/>
          </p:cNvGraphicFramePr>
          <p:nvPr/>
        </p:nvGraphicFramePr>
        <p:xfrm>
          <a:off x="1828800" y="1752600"/>
          <a:ext cx="9067800" cy="2000000"/>
        </p:xfrm>
        <a:graphic>
          <a:graphicData uri="http://schemas.openxmlformats.org/drawingml/2006/table">
            <a:tbl>
              <a:tblPr firstRow="1" bandRow="1">
                <a:tableStyleId>{5C22544A-7EE6-4342-B048-85BDC9FD1C3A}</a:tableStyleId>
              </a:tblPr>
              <a:tblGrid>
                <a:gridCol w="1650000"/>
                <a:gridCol w="1450000"/>
                <a:gridCol w="1400000"/>
                <a:gridCol w="1000000"/>
                <a:gridCol w="1200000"/>
                <a:gridCol w="750000"/>
                <a:gridCol w="1617800"/>
              </a:tblGrid>
              <a:tr h="285714">
                <a:tc>
                  <a:txBody>
                    <a:bodyPr/>
                    <a:lstStyle/>
                    <a:p>
                      <a:pPr algn="ctr">
                        <a:defRPr sz="1150" b="1"/>
                      </a:pPr>
                      <a:r>
                        <a:t>System</a:t>
                      </a:r>
                    </a:p>
                  </a:txBody>
                  <a:tcPr/>
                </a:tc>
                <a:tc>
                  <a:txBody>
                    <a:bodyPr/>
                    <a:lstStyle/>
                    <a:p>
                      <a:pPr algn="ctr">
                        <a:defRPr sz="1150" b="1"/>
                      </a:pPr>
                      <a:r>
                        <a:t>Overall WER</a:t>
                      </a:r>
                    </a:p>
                  </a:txBody>
                  <a:tcPr/>
                </a:tc>
                <a:tc>
                  <a:txBody>
                    <a:bodyPr/>
                    <a:lstStyle/>
                    <a:p>
                      <a:pPr algn="ctr">
                        <a:defRPr sz="1150" b="1"/>
                      </a:pPr>
                      <a:r>
                        <a:t>Worst family</a:t>
                      </a:r>
                    </a:p>
                  </a:txBody>
                  <a:tcPr/>
                </a:tc>
                <a:tc>
                  <a:txBody>
                    <a:bodyPr/>
                    <a:lstStyle/>
                    <a:p>
                      <a:pPr algn="ctr">
                        <a:defRPr sz="1150" b="1"/>
                      </a:pPr>
                      <a:r>
                        <a:t>ΔDP (pp)</a:t>
                      </a:r>
                    </a:p>
                  </a:txBody>
                  <a:tcPr/>
                </a:tc>
                <a:tc>
                  <a:txBody>
                    <a:bodyPr/>
                    <a:lstStyle/>
                    <a:p>
                      <a:pPr algn="ctr">
                        <a:defRPr sz="1150" b="1"/>
                      </a:pPr>
                      <a:r>
                        <a:t>Poisson p</a:t>
                      </a:r>
                    </a:p>
                  </a:txBody>
                  <a:tcPr/>
                </a:tc>
                <a:tc>
                  <a:txBody>
                    <a:bodyPr/>
                    <a:lstStyle/>
                    <a:p>
                      <a:pPr algn="ctr">
                        <a:defRPr sz="1150" b="1"/>
                      </a:pPr>
                      <a:r>
                        <a:t>n</a:t>
                      </a:r>
                    </a:p>
                  </a:txBody>
                  <a:tcPr/>
                </a:tc>
                <a:tc>
                  <a:txBody>
                    <a:bodyPr/>
                    <a:lstStyle/>
                    <a:p>
                      <a:pPr algn="ctr">
                        <a:defRPr sz="1150" b="1"/>
                      </a:pPr>
                      <a:r>
                        <a:t>Cost</a:t>
                      </a:r>
                    </a:p>
                  </a:txBody>
                  <a:tcPr/>
                </a:tc>
              </a:tr>
              <a:tr h="285714">
                <a:tc>
                  <a:txBody>
                    <a:bodyPr/>
                    <a:lstStyle/>
                    <a:p>
                      <a:pPr algn="ctr">
                        <a:defRPr sz="1050"/>
                      </a:pPr>
                      <a:r>
                        <a:t>whisper-tiny</a:t>
                      </a:r>
                    </a:p>
                  </a:txBody>
                  <a:tcPr/>
                </a:tc>
                <a:tc>
                  <a:txBody>
                    <a:bodyPr/>
                    <a:lstStyle/>
                    <a:p>
                      <a:pPr algn="ctr">
                        <a:defRPr sz="1050"/>
                      </a:pPr>
                      <a:r>
                        <a:t>20.60%</a:t>
                      </a:r>
                    </a:p>
                  </a:txBody>
                  <a:tcPr/>
                </a:tc>
                <a:tc>
                  <a:txBody>
                    <a:bodyPr/>
                    <a:lstStyle/>
                    <a:p>
                      <a:pPr algn="ctr">
                        <a:defRPr sz="1050"/>
                      </a:pPr>
                      <a:r>
                        <a:t>Sino-Tibetan</a:t>
                      </a:r>
                    </a:p>
                  </a:txBody>
                  <a:tcPr/>
                </a:tc>
                <a:tc>
                  <a:txBody>
                    <a:bodyPr/>
                    <a:lstStyle/>
                    <a:p>
                      <a:pPr algn="ctr">
                        <a:defRPr sz="1050"/>
                      </a:pPr>
                      <a:r>
                        <a:t>14.19</a:t>
                      </a:r>
                    </a:p>
                  </a:txBody>
                  <a:tcPr/>
                </a:tc>
                <a:tc>
                  <a:txBody>
                    <a:bodyPr/>
                    <a:lstStyle/>
                    <a:p>
                      <a:pPr algn="ctr">
                        <a:defRPr sz="1050"/>
                      </a:pPr>
                      <a:r>
                        <a:t>3.3e-24</a:t>
                      </a:r>
                    </a:p>
                  </a:txBody>
                  <a:tcPr/>
                </a:tc>
                <a:tc>
                  <a:txBody>
                    <a:bodyPr/>
                    <a:lstStyle/>
                    <a:p>
                      <a:pPr algn="ctr">
                        <a:defRPr sz="1050"/>
                      </a:pPr>
                      <a:r>
                        <a:t>2,500</a:t>
                      </a:r>
                    </a:p>
                  </a:txBody>
                  <a:tcPr/>
                </a:tc>
                <a:tc>
                  <a:txBody>
                    <a:bodyPr/>
                    <a:lstStyle/>
                    <a:p>
                      <a:pPr algn="ctr">
                        <a:defRPr sz="1050"/>
                      </a:pPr>
                      <a:r>
                        <a:t>$0.034</a:t>
                      </a:r>
                    </a:p>
                  </a:txBody>
                  <a:tcPr/>
                </a:tc>
              </a:tr>
              <a:tr h="285714">
                <a:tc>
                  <a:txBody>
                    <a:bodyPr/>
                    <a:lstStyle/>
                    <a:p>
                      <a:pPr algn="ctr">
                        <a:defRPr sz="1050"/>
                      </a:pPr>
                      <a:r>
                        <a:t>whisper-small</a:t>
                      </a:r>
                    </a:p>
                  </a:txBody>
                  <a:tcPr/>
                </a:tc>
                <a:tc>
                  <a:txBody>
                    <a:bodyPr/>
                    <a:lstStyle/>
                    <a:p>
                      <a:pPr algn="ctr">
                        <a:defRPr sz="1050"/>
                      </a:pPr>
                      <a:r>
                        <a:t>10.88%</a:t>
                      </a:r>
                    </a:p>
                  </a:txBody>
                  <a:tcPr/>
                </a:tc>
                <a:tc>
                  <a:txBody>
                    <a:bodyPr/>
                    <a:lstStyle/>
                    <a:p>
                      <a:pPr algn="ctr">
                        <a:defRPr sz="1050"/>
                      </a:pPr>
                      <a:r>
                        <a:t>Sino-Tibetan</a:t>
                      </a:r>
                    </a:p>
                  </a:txBody>
                  <a:tcPr/>
                </a:tc>
                <a:tc>
                  <a:txBody>
                    <a:bodyPr/>
                    <a:lstStyle/>
                    <a:p>
                      <a:pPr algn="ctr">
                        <a:defRPr sz="1050"/>
                      </a:pPr>
                      <a:r>
                        <a:t>3.18</a:t>
                      </a:r>
                    </a:p>
                  </a:txBody>
                  <a:tcPr/>
                </a:tc>
                <a:tc>
                  <a:txBody>
                    <a:bodyPr/>
                    <a:lstStyle/>
                    <a:p>
                      <a:pPr algn="ctr">
                        <a:defRPr sz="1050"/>
                      </a:pPr>
                      <a:r>
                        <a:t>0.0045</a:t>
                      </a:r>
                    </a:p>
                  </a:txBody>
                  <a:tcPr/>
                </a:tc>
                <a:tc>
                  <a:txBody>
                    <a:bodyPr/>
                    <a:lstStyle/>
                    <a:p>
                      <a:pPr algn="ctr">
                        <a:defRPr sz="1050"/>
                      </a:pPr>
                      <a:r>
                        <a:t>2,500</a:t>
                      </a:r>
                    </a:p>
                  </a:txBody>
                  <a:tcPr/>
                </a:tc>
                <a:tc>
                  <a:txBody>
                    <a:bodyPr/>
                    <a:lstStyle/>
                    <a:p>
                      <a:pPr algn="ctr">
                        <a:defRPr sz="1050"/>
                      </a:pPr>
                      <a:r>
                        <a:t>$0.095</a:t>
                      </a:r>
                    </a:p>
                  </a:txBody>
                  <a:tcPr/>
                </a:tc>
              </a:tr>
              <a:tr h="285714">
                <a:tc>
                  <a:txBody>
                    <a:bodyPr/>
                    <a:lstStyle/>
                    <a:p>
                      <a:pPr algn="ctr">
                        <a:defRPr sz="1050"/>
                      </a:pPr>
                      <a:r>
                        <a:t>whisper-large-v3</a:t>
                      </a:r>
                    </a:p>
                  </a:txBody>
                  <a:tcPr/>
                </a:tc>
                <a:tc>
                  <a:txBody>
                    <a:bodyPr/>
                    <a:lstStyle/>
                    <a:p>
                      <a:pPr algn="ctr">
                        <a:defRPr sz="1050"/>
                      </a:pPr>
                      <a:r>
                        <a:t>7.04%</a:t>
                      </a:r>
                    </a:p>
                  </a:txBody>
                  <a:tcPr/>
                </a:tc>
                <a:tc>
                  <a:txBody>
                    <a:bodyPr/>
                    <a:lstStyle/>
                    <a:p>
                      <a:pPr algn="ctr">
                        <a:defRPr sz="1050"/>
                      </a:pPr>
                      <a:r>
                        <a:t>Sino-Tibetan</a:t>
                      </a:r>
                    </a:p>
                  </a:txBody>
                  <a:tcPr/>
                </a:tc>
                <a:tc>
                  <a:txBody>
                    <a:bodyPr/>
                    <a:lstStyle/>
                    <a:p>
                      <a:pPr algn="ctr">
                        <a:defRPr sz="1050"/>
                      </a:pPr>
                      <a:r>
                        <a:t>2.38</a:t>
                      </a:r>
                    </a:p>
                  </a:txBody>
                  <a:tcPr/>
                </a:tc>
                <a:tc>
                  <a:txBody>
                    <a:bodyPr/>
                    <a:lstStyle/>
                    <a:p>
                      <a:pPr algn="ctr">
                        <a:defRPr sz="1050"/>
                      </a:pPr>
                      <a:r>
                        <a:t>0.0152</a:t>
                      </a:r>
                    </a:p>
                  </a:txBody>
                  <a:tcPr/>
                </a:tc>
                <a:tc>
                  <a:txBody>
                    <a:bodyPr/>
                    <a:lstStyle/>
                    <a:p>
                      <a:pPr algn="ctr">
                        <a:defRPr sz="1050"/>
                      </a:pPr>
                      <a:r>
                        <a:t>2,500</a:t>
                      </a:r>
                    </a:p>
                  </a:txBody>
                  <a:tcPr/>
                </a:tc>
                <a:tc>
                  <a:txBody>
                    <a:bodyPr/>
                    <a:lstStyle/>
                    <a:p>
                      <a:pPr algn="ctr">
                        <a:defRPr sz="1050"/>
                      </a:pPr>
                      <a:r>
                        <a:t>$0.411</a:t>
                      </a:r>
                    </a:p>
                  </a:txBody>
                  <a:tcPr/>
                </a:tc>
              </a:tr>
              <a:tr h="285714">
                <a:tc>
                  <a:txBody>
                    <a:bodyPr/>
                    <a:lstStyle/>
                    <a:p>
                      <a:pPr algn="ctr">
                        <a:defRPr sz="1050"/>
                      </a:pPr>
                      <a:r>
                        <a:t>distil-large-v3</a:t>
                      </a:r>
                    </a:p>
                  </a:txBody>
                  <a:tcPr/>
                </a:tc>
                <a:tc>
                  <a:txBody>
                    <a:bodyPr/>
                    <a:lstStyle/>
                    <a:p>
                      <a:pPr algn="ctr">
                        <a:defRPr sz="1050"/>
                      </a:pPr>
                      <a:r>
                        <a:t>10.03%</a:t>
                      </a:r>
                    </a:p>
                  </a:txBody>
                  <a:tcPr/>
                </a:tc>
                <a:tc>
                  <a:txBody>
                    <a:bodyPr/>
                    <a:lstStyle/>
                    <a:p>
                      <a:pPr algn="ctr">
                        <a:defRPr sz="1050"/>
                      </a:pPr>
                      <a:r>
                        <a:t>Sino-Tibetan</a:t>
                      </a:r>
                    </a:p>
                  </a:txBody>
                  <a:tcPr/>
                </a:tc>
                <a:tc>
                  <a:txBody>
                    <a:bodyPr/>
                    <a:lstStyle/>
                    <a:p>
                      <a:pPr algn="ctr">
                        <a:defRPr sz="1050"/>
                      </a:pPr>
                      <a:r>
                        <a:t>4.02</a:t>
                      </a:r>
                    </a:p>
                  </a:txBody>
                  <a:tcPr/>
                </a:tc>
                <a:tc>
                  <a:txBody>
                    <a:bodyPr/>
                    <a:lstStyle/>
                    <a:p>
                      <a:pPr algn="ctr">
                        <a:defRPr sz="1050"/>
                      </a:pPr>
                      <a:r>
                        <a:t>0.00025</a:t>
                      </a:r>
                    </a:p>
                  </a:txBody>
                  <a:tcPr/>
                </a:tc>
                <a:tc>
                  <a:txBody>
                    <a:bodyPr/>
                    <a:lstStyle/>
                    <a:p>
                      <a:pPr algn="ctr">
                        <a:defRPr sz="1050"/>
                      </a:pPr>
                      <a:r>
                        <a:t>2,500</a:t>
                      </a:r>
                    </a:p>
                  </a:txBody>
                  <a:tcPr/>
                </a:tc>
                <a:tc>
                  <a:txBody>
                    <a:bodyPr/>
                    <a:lstStyle/>
                    <a:p>
                      <a:pPr algn="ctr">
                        <a:defRPr sz="1050"/>
                      </a:pPr>
                      <a:r>
                        <a:t>$0.285</a:t>
                      </a:r>
                    </a:p>
                  </a:txBody>
                  <a:tcPr/>
                </a:tc>
              </a:tr>
              <a:tr h="285714">
                <a:tc>
                  <a:txBody>
                    <a:bodyPr/>
                    <a:lstStyle/>
                    <a:p>
                      <a:pPr algn="ctr">
                        <a:defRPr sz="1050"/>
                      </a:pPr>
                      <a:r>
                        <a:t>Saaras V3</a:t>
                      </a:r>
                    </a:p>
                  </a:txBody>
                  <a:tcPr/>
                </a:tc>
                <a:tc>
                  <a:txBody>
                    <a:bodyPr/>
                    <a:lstStyle/>
                    <a:p>
                      <a:pPr algn="ctr">
                        <a:defRPr sz="1050"/>
                      </a:pPr>
                      <a:r>
                        <a:t>5.81% (best)</a:t>
                      </a:r>
                    </a:p>
                  </a:txBody>
                  <a:tcPr/>
                </a:tc>
                <a:tc>
                  <a:txBody>
                    <a:bodyPr/>
                    <a:lstStyle/>
                    <a:p>
                      <a:pPr algn="ctr">
                        <a:defRPr sz="1050"/>
                      </a:pPr>
                      <a:r>
                        <a:t>Sino-Tibetan</a:t>
                      </a:r>
                    </a:p>
                  </a:txBody>
                  <a:tcPr/>
                </a:tc>
                <a:tc>
                  <a:txBody>
                    <a:bodyPr/>
                    <a:lstStyle/>
                    <a:p>
                      <a:pPr algn="ctr">
                        <a:defRPr sz="1050"/>
                      </a:pPr>
                      <a:r>
                        <a:t>3.45</a:t>
                      </a:r>
                    </a:p>
                  </a:txBody>
                  <a:tcPr/>
                </a:tc>
                <a:tc>
                  <a:txBody>
                    <a:bodyPr/>
                    <a:lstStyle/>
                    <a:p>
                      <a:pPr algn="ctr">
                        <a:defRPr sz="1050"/>
                      </a:pPr>
                      <a:r>
                        <a:t>0.00023</a:t>
                      </a:r>
                    </a:p>
                  </a:txBody>
                  <a:tcPr/>
                </a:tc>
                <a:tc>
                  <a:txBody>
                    <a:bodyPr/>
                    <a:lstStyle/>
                    <a:p>
                      <a:pPr algn="ctr">
                        <a:defRPr sz="1050"/>
                      </a:pPr>
                      <a:r>
                        <a:t>450</a:t>
                      </a:r>
                    </a:p>
                  </a:txBody>
                  <a:tcPr/>
                </a:tc>
                <a:tc>
                  <a:txBody>
                    <a:bodyPr/>
                    <a:lstStyle/>
                    <a:p>
                      <a:pPr algn="ctr">
                        <a:defRPr sz="1050"/>
                      </a:pPr>
                      <a:r>
                        <a:t>$0.226</a:t>
                      </a:r>
                    </a:p>
                  </a:txBody>
                  <a:tcPr/>
                </a:tc>
              </a:tr>
              <a:tr h="285716">
                <a:tc>
                  <a:txBody>
                    <a:bodyPr/>
                    <a:lstStyle/>
                    <a:p>
                      <a:pPr algn="ctr">
                        <a:defRPr sz="1050"/>
                      </a:pPr>
                      <a:r>
                        <a:t>Qwen3-ASR-0.6B</a:t>
                      </a:r>
                    </a:p>
                  </a:txBody>
                  <a:tcPr/>
                </a:tc>
                <a:tc>
                  <a:txBody>
                    <a:bodyPr/>
                    <a:lstStyle/>
                    <a:p>
                      <a:pPr algn="ctr">
                        <a:defRPr sz="1050"/>
                      </a:pPr>
                      <a:r>
                        <a:t>15.49%</a:t>
                      </a:r>
                    </a:p>
                  </a:txBody>
                  <a:tcPr/>
                </a:tc>
                <a:tc>
                  <a:txBody>
                    <a:bodyPr/>
                    <a:lstStyle/>
                    <a:p>
                      <a:pPr algn="ctr">
                        <a:defRPr sz="1050"/>
                      </a:pPr>
                      <a:r>
                        <a:t>Sino-Tibetan</a:t>
                      </a:r>
                    </a:p>
                  </a:txBody>
                  <a:tcPr/>
                </a:tc>
                <a:tc>
                  <a:txBody>
                    <a:bodyPr/>
                    <a:lstStyle/>
                    <a:p>
                      <a:pPr algn="ctr">
                        <a:defRPr sz="1050"/>
                      </a:pPr>
                      <a:r>
                        <a:t>3.57</a:t>
                      </a:r>
                    </a:p>
                  </a:txBody>
                  <a:tcPr/>
                </a:tc>
                <a:tc>
                  <a:txBody>
                    <a:bodyPr/>
                    <a:lstStyle/>
                    <a:p>
                      <a:pPr algn="ctr">
                        <a:defRPr sz="1050"/>
                      </a:pPr>
                      <a:r>
                        <a:t>0.0013</a:t>
                      </a:r>
                    </a:p>
                  </a:txBody>
                  <a:tcPr/>
                </a:tc>
                <a:tc>
                  <a:txBody>
                    <a:bodyPr/>
                    <a:lstStyle/>
                    <a:p>
                      <a:pPr algn="ctr">
                        <a:defRPr sz="1050"/>
                      </a:pPr>
                      <a:r>
                        <a:t>2,500</a:t>
                      </a:r>
                    </a:p>
                  </a:txBody>
                  <a:tcPr/>
                </a:tc>
                <a:tc>
                  <a:txBody>
                    <a:bodyPr/>
                    <a:lstStyle/>
                    <a:p>
                      <a:pPr algn="ctr">
                        <a:defRPr sz="1050"/>
                      </a:pPr>
                      <a:r>
                        <a:t>$0.142</a:t>
                      </a:r>
                    </a:p>
                  </a:txBody>
                  <a:tcPr/>
                </a:tc>
              </a:tr>
            </a:tbl>
          </a:graphicData>
        </a:graphic>
      </p:graphicFrame>
      <p:sp>
        <p:nvSpPr>
          <p:cNvPr id="177" name="TextBox 176"/>
          <p:cNvSpPr txBox="1"/>
          <p:nvPr/>
        </p:nvSpPr>
        <p:spPr>
          <a:xfrm>
            <a:off x="1828800" y="3802600"/>
            <a:ext cx="9067800" cy="350000"/>
          </a:xfrm>
          <a:prstGeom prst="rect">
            <a:avLst/>
          </a:prstGeom>
          <a:noFill/>
        </p:spPr>
        <p:txBody>
          <a:bodyPr wrap="square">
            <a:spAutoFit/>
          </a:bodyPr>
          <a:lstStyle/>
          <a:p>
            <a:pPr>
              <a:defRPr sz="1100" i="1"/>
            </a:pPr>
            <a:r>
              <a:t>All six systems: Sino-Tibetan worst, all p &lt; 0.05 (structural). Total cost across all six: $1.193. Best overall WER (Saaras V3) does not close the fairness gap — aggregate WER hides subgroup movement.</a:t>
            </a:r>
          </a:p>
        </p:txBody>
      </p:sp>
      <p:pic>
        <p:nvPicPr>
          <p:cNvPr id="178" name="Picture 177" descr="family_wer_chart.png"/>
          <p:cNvPicPr>
            <a:picLocks noChangeAspect="1"/>
          </p:cNvPicPr>
          <p:nvPr/>
        </p:nvPicPr>
        <p:blipFill>
          <a:blip r:embed="rId5"/>
          <a:stretch>
            <a:fillRect/>
          </a:stretch>
        </p:blipFill>
        <p:spPr>
          <a:xfrm>
            <a:off x="300000" y="4232600"/>
            <a:ext cx="4496038" cy="2125400"/>
          </a:xfrm>
          <a:prstGeom prst="rect">
            <a:avLst/>
          </a:prstGeom>
        </p:spPr>
      </p:pic>
      <p:sp>
        <p:nvSpPr>
          <p:cNvPr id="179" name="TextBox 178"/>
          <p:cNvSpPr txBox="1"/>
          <p:nvPr/>
        </p:nvSpPr>
        <p:spPr>
          <a:xfrm>
            <a:off x="5046038" y="4232600"/>
            <a:ext cx="6845962" cy="2125400"/>
          </a:xfrm>
          <a:prstGeom prst="rect">
            <a:avLst/>
          </a:prstGeom>
          <a:noFill/>
        </p:spPr>
        <p:txBody>
          <a:bodyPr wrap="square">
            <a:spAutoFit/>
          </a:bodyPr>
          <a:lstStyle/>
          <a:p>
            <a:pPr>
              <a:defRPr sz="1150" b="1"/>
            </a:pPr>
            <a:r>
              <a:t>Bonus — whispr-nano (side-quest, $0.16):</a:t>
            </a:r>
          </a:p>
          <a:p>
            <a:pPr>
              <a:defRPr sz="1050"/>
            </a:pPr>
            <a:r>
              <a:t>On-policy WER: 10.09% → 7.89%</a:t>
            </a:r>
          </a:p>
          <a:p>
            <a:pPr>
              <a:defRPr sz="1050"/>
            </a:pPr>
            <a:r>
              <a:t>On-policy KL: 0.633 → 0.496</a:t>
            </a:r>
          </a:p>
          <a:p>
            <a:pPr>
              <a:defRPr sz="1050"/>
            </a:pPr>
            <a:r>
              <a:t>Off-policy WER: 10.09% → 7.57%</a:t>
            </a:r>
          </a:p>
          <a:p>
            <a:pPr>
              <a:defRPr sz="1050"/>
            </a:pPr>
            <a:r>
              <a:t>Off-policy KL: 0.633 → 0.524</a:t>
            </a:r>
          </a:p>
          <a:p>
            <a:pPr>
              <a:defRPr sz="1050"/>
            </a:pPr>
            <a:r>
              <a:t>On-policy wins on calibration — matches the LLM-distillation literature (GKD).</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g3785cdd0013_0_74"/>
          <p:cNvSpPr txBox="1"/>
          <p:nvPr/>
        </p:nvSpPr>
        <p:spPr>
          <a:xfrm>
            <a:off x="2971800" y="1025102"/>
            <a:ext cx="7772400" cy="461700"/>
          </a:xfrm>
          <a:prstGeom prst="rect">
            <a:avLst/>
          </a:prstGeom>
          <a:noFill/>
          <a:ln>
            <a:noFill/>
          </a:ln>
        </p:spPr>
        <p:txBody>
          <a:bodyPr spcFirstLastPara="1" wrap="square" lIns="91425" tIns="45700" rIns="91425" bIns="45700" anchor="t" anchorCtr="0">
            <a:spAutoFit/>
          </a:bodyPr>
          <a:lstStyle/>
          <a:p>
            <a:pPr marL="342900" marR="0" lvl="0" indent="-342900" algn="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Trebuchet MS"/>
                <a:ea typeface="Trebuchet MS"/>
                <a:cs typeface="Trebuchet MS"/>
                <a:sym typeface="Trebuchet MS"/>
              </a:rPr>
              <a:t>References</a:t>
            </a:r>
            <a:endParaRPr sz="2400" b="0" i="0" u="none" strike="noStrike" cap="none">
              <a:solidFill>
                <a:schemeClr val="dk1"/>
              </a:solidFill>
              <a:latin typeface="Calibri"/>
              <a:ea typeface="Calibri"/>
              <a:cs typeface="Calibri"/>
              <a:sym typeface="Calibri"/>
            </a:endParaRPr>
          </a:p>
        </p:txBody>
      </p:sp>
      <p:sp>
        <p:nvSpPr>
          <p:cNvPr id="181" name="Google Shape;181;g3785cdd0013_0_74"/>
          <p:cNvSpPr txBox="1"/>
          <p:nvPr/>
        </p:nvSpPr>
        <p:spPr>
          <a:xfrm>
            <a:off x="2133601" y="1905001"/>
            <a:ext cx="8839200" cy="4340700"/>
          </a:xfrm>
          <a:prstGeom prst="rect">
            <a:avLst/>
          </a:prstGeom>
          <a:noFill/>
          <a:ln>
            <a:noFill/>
          </a:ln>
        </p:spPr>
        <p:txBody>
          <a:bodyPr spcFirstLastPara="1" wrap="square" lIns="91425" tIns="45700" rIns="91425" bIns="45700" anchor="t" anchorCtr="0">
            <a:spAutoFit/>
          </a:bodyPr>
          <a:lstStyle/>
          <a:p>
            <a:pPr marL="342900" marR="0" lvl="0" indent="12700" algn="just" rtl="0">
              <a:lnSpc>
                <a:spcPct val="100000"/>
              </a:lnSpc>
              <a:spcBef>
                <a:spcPts val="0"/>
              </a:spcBef>
              <a:spcAft>
                <a:spcPts val="0"/>
              </a:spcAft>
              <a:buClr>
                <a:srgbClr val="000000"/>
              </a:buClr>
              <a:buSzPts val="2400"/>
              <a:buFont typeface="Arial"/>
              <a:buNone/>
            </a:pPr>
            <a:r>
              <a:rPr sz="1050"/>
              <a:t>[1] A. Radford, J. W. Kim, T. Xu, G. Brockman, C. McLeavey, and I. Sutskever, “Robust Speech Recognition via Large-Scale Weak Supervision,” arXiv:2212.04356, 2022.</a:t>
            </a:r>
            <a:endParaRPr sz="1400" b="0" i="0" u="none" strike="noStrike" cap="none">
              <a:solidFill>
                <a:schemeClr val="accent1"/>
              </a:solidFill>
              <a:latin typeface="Arial"/>
              <a:ea typeface="Arial"/>
              <a:cs typeface="Arial"/>
              <a:sym typeface="Arial"/>
            </a:endParaRPr>
          </a:p>
          <a:p>
            <a:r>
              <a:rPr sz="1050"/>
              <a:t>[2] T. Javed et al., “Svarah: Evaluating English ASR Systems on Indian Accents,” in Proc. INTERSPEECH 2023, pp. 5087–5091, 2023.</a:t>
            </a:r>
          </a:p>
          <a:p>
            <a:r>
              <a:rPr sz="1050"/>
              <a:t>[3] A. K. Rai, S. Rahangdale, U. Anand, and A. Mukherjee, “ASR-FAIRBENCH: Measuring and Benchmarking Equity Across Speech Recognition Systems,” in Proc. INTERSPEECH 2025, 2025.</a:t>
            </a:r>
          </a:p>
          <a:p>
            <a:r>
              <a:rPr sz="1050"/>
              <a:t>[4] S. Kumar et al., “ASR Under the Stethoscope: Evaluating Biases in Clinical Speech Recognition across Indian Languages,” arXiv:2512.10967, 2025.</a:t>
            </a:r>
          </a:p>
          <a:p>
            <a:r>
              <a:rPr sz="1050"/>
              <a:t>[5] A. Koenecke et al., “Racial disparities in automated speech recognition,” Proc. Natl. Acad. Sci., vol. 117, no. 14, pp. 7684–7689, 2020.</a:t>
            </a:r>
          </a:p>
          <a:p>
            <a:r>
              <a:rPr sz="1050"/>
              <a:t>[6] Z. Liu, I.-E. Veliche, and F. Peng, “Model-Based Approach for Measuring the Fairness in ASR,” in Proc. ICASSP, pp. 6532–6536, 2022.</a:t>
            </a:r>
          </a:p>
          <a:p>
            <a:r>
              <a:rPr sz="1050"/>
              <a:t>[7] S. Sagawa, P. W. Koh, T. B. Hashimoto, and P. Liang, “Distributionally Robust Neural Networks for Group Shifts,” arXiv:1911.08731, 2020.</a:t>
            </a:r>
          </a:p>
          <a:p>
            <a:r>
              <a:rPr sz="1050"/>
              <a:t>[8] P. G. Shivakumar, Y. Gu, A. Gandhe, and I. Bulyko, “Group Relative Policy Optimization for Speech Recognition,” in Proc. IEEE ASRU, 2025.</a:t>
            </a:r>
          </a:p>
          <a:p>
            <a:r>
              <a:rPr sz="1050"/>
              <a:t>[9] R. Agarwal et al., “On-Policy Distillation of Language Models: Learning from Self-Generated Mistakes,” in Proc. ICLR, 2024.</a:t>
            </a:r>
          </a:p>
          <a:p>
            <a:r>
              <a:rPr sz="1050"/>
              <a:t>[10] Thinking Machines Lab, “On-Policy Distillation,” Company blog, 2025.</a:t>
            </a:r>
          </a:p>
          <a:p>
            <a:r>
              <a:rPr sz="1050"/>
              <a:t>[11] S. Gandhi, P. von Platen, and A. M. Rush, “Distil-Whisper: Robust Knowledge Distillation via Large-Scale Pseudo Labelling,” arXiv:2311.00430, 2023.</a:t>
            </a:r>
          </a:p>
          <a:p>
            <a:r>
              <a:rPr sz="1050"/>
              <a:t>[12] Sarvam AI, “Introducing Saaras V3,” Company blog, Feb. 2026. [Online]. Available: sarvam.ai/blogs/asr</a:t>
            </a:r>
          </a:p>
        </p:txBody>
      </p:sp>
      <p:pic>
        <p:nvPicPr>
          <p:cNvPr id="182" name="Google Shape;182;g3785cdd0013_0_74"/>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83" name="Google Shape;183;g3785cdd0013_0_74"/>
          <p:cNvSpPr txBox="1"/>
          <p:nvPr/>
        </p:nvSpPr>
        <p:spPr>
          <a:xfrm>
            <a:off x="76201" y="63110"/>
            <a:ext cx="4114800" cy="365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rgbClr val="888888"/>
                </a:solidFill>
                <a:latin typeface="Arial"/>
                <a:ea typeface="Arial"/>
                <a:cs typeface="Arial"/>
                <a:sym typeface="Arial"/>
              </a:rPr>
              <a:t>ASR Fairness Audit</a:t>
            </a:r>
            <a:endParaRPr sz="1200" b="0" i="0" u="none" strike="noStrike" cap="none">
              <a:solidFill>
                <a:srgbClr val="888888"/>
              </a:solidFill>
              <a:latin typeface="Arial"/>
              <a:ea typeface="Arial"/>
              <a:cs typeface="Arial"/>
              <a:sym typeface="Arial"/>
            </a:endParaRPr>
          </a:p>
        </p:txBody>
      </p:sp>
      <p:sp>
        <p:nvSpPr>
          <p:cNvPr id="184" name="Google Shape;184;g3785cdd0013_0_74"/>
          <p:cNvSpPr txBox="1">
            <a:spLocks noGrp="1"/>
          </p:cNvSpPr>
          <p:nvPr>
            <p:ph type="ftr" idx="11"/>
          </p:nvPr>
        </p:nvSpPr>
        <p:spPr>
          <a:xfrm>
            <a:off x="3686185" y="6459785"/>
            <a:ext cx="4822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Aditya_Adithya_Kaustubh_Aditi</a:t>
            </a:r>
            <a:endParaRPr/>
          </a:p>
        </p:txBody>
      </p:sp>
      <p:pic>
        <p:nvPicPr>
          <p:cNvPr id="7" name="Picture 6"/>
          <p:cNvPicPr/>
          <p:nvPr/>
        </p:nvPicPr>
        <p:blipFill>
          <a:blip r:embed="rId4"/>
          <a:srcRect/>
          <a:stretch>
            <a:fillRect/>
          </a:stretch>
        </p:blipFill>
        <p:spPr bwMode="auto">
          <a:xfrm>
            <a:off x="195549" y="160691"/>
            <a:ext cx="762000" cy="7858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785cdd0013_0_83"/>
          <p:cNvSpPr/>
          <p:nvPr/>
        </p:nvSpPr>
        <p:spPr>
          <a:xfrm>
            <a:off x="3531752" y="2856542"/>
            <a:ext cx="4532595" cy="7080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n-US" sz="4800" b="1" i="0" u="none" strike="noStrike" cap="none" dirty="0">
                <a:solidFill>
                  <a:schemeClr val="accent1"/>
                </a:solidFill>
                <a:latin typeface="Trebuchet MS"/>
                <a:ea typeface="Trebuchet MS"/>
                <a:cs typeface="Trebuchet MS"/>
                <a:sym typeface="Trebuchet MS"/>
              </a:rPr>
              <a:t>Thank You</a:t>
            </a:r>
            <a:endParaRPr sz="1800" b="1" i="0" u="none" strike="noStrike" cap="none">
              <a:solidFill>
                <a:schemeClr val="accent1"/>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336</Words>
  <Application>Microsoft Office PowerPoint</Application>
  <PresentationFormat>Custom</PresentationFormat>
  <Paragraphs>87</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Retrospect</vt:lpstr>
      <vt:lpstr>Slide 1</vt:lpstr>
      <vt:lpstr>Slide 2</vt:lpstr>
      <vt:lpstr>Slide 3</vt:lpstr>
      <vt:lpstr>Slide 4</vt:lpstr>
      <vt:lpstr>Slide 5</vt:lpstr>
      <vt:lpstr>Slide 6</vt:lpstr>
      <vt:lpstr>Slide 7</vt:lpstr>
      <vt:lpstr>Slide 8</vt:lpstr>
      <vt:lpstr>Slide 9</vt:lpstr>
      <vt:lpstr>Slide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pesu</cp:lastModifiedBy>
  <cp:revision>6</cp:revision>
  <dcterms:created xsi:type="dcterms:W3CDTF">2023-02-02T07:40:50Z</dcterms:created>
  <dcterms:modified xsi:type="dcterms:W3CDTF">2026-08-27T05:57:02Z</dcterms:modified>
</cp:coreProperties>
</file>